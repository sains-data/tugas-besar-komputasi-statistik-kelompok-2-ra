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Canva Sans Bold" charset="1" panose="020B0803030501040103"/>
      <p:regular r:id="rId16"/>
    </p:embeddedFont>
    <p:embeddedFont>
      <p:font typeface="Canva Sans" charset="1" panose="020B0503030501040103"/>
      <p:regular r:id="rId17"/>
    </p:embeddedFont>
    <p:embeddedFont>
      <p:font typeface="Antic" charset="1" panose="00000000000000000000"/>
      <p:regular r:id="rId18"/>
    </p:embeddedFont>
    <p:embeddedFont>
      <p:font typeface="Antic Bold" charset="1" panose="0000000000000000000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5.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7.pn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 Id="rId6" Target="../media/image10.png" Type="http://schemas.openxmlformats.org/officeDocument/2006/relationships/image"/><Relationship Id="rId7" Target="../media/image1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2.png" Type="http://schemas.openxmlformats.org/officeDocument/2006/relationships/image"/><Relationship Id="rId4" Target="../media/image13.png" Type="http://schemas.openxmlformats.org/officeDocument/2006/relationships/image"/><Relationship Id="rId5" Target="../media/image1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jpeg" Type="http://schemas.openxmlformats.org/officeDocument/2006/relationships/image"/><Relationship Id="rId3" Target="../media/image17.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86746" y="-1406234"/>
            <a:ext cx="19689922" cy="13118410"/>
          </a:xfrm>
          <a:custGeom>
            <a:avLst/>
            <a:gdLst/>
            <a:ahLst/>
            <a:cxnLst/>
            <a:rect r="r" b="b" t="t" l="l"/>
            <a:pathLst>
              <a:path h="13118410" w="19689922">
                <a:moveTo>
                  <a:pt x="0" y="0"/>
                </a:moveTo>
                <a:lnTo>
                  <a:pt x="19689922" y="0"/>
                </a:lnTo>
                <a:lnTo>
                  <a:pt x="19689922" y="13118410"/>
                </a:lnTo>
                <a:lnTo>
                  <a:pt x="0" y="13118410"/>
                </a:lnTo>
                <a:lnTo>
                  <a:pt x="0" y="0"/>
                </a:lnTo>
                <a:close/>
              </a:path>
            </a:pathLst>
          </a:custGeom>
          <a:blipFill>
            <a:blip r:embed="rId2">
              <a:alphaModFix amt="23000"/>
            </a:blip>
            <a:stretch>
              <a:fillRect l="0" t="0" r="0" b="0"/>
            </a:stretch>
          </a:blipFill>
        </p:spPr>
      </p:sp>
      <p:grpSp>
        <p:nvGrpSpPr>
          <p:cNvPr name="Group 3" id="3"/>
          <p:cNvGrpSpPr/>
          <p:nvPr/>
        </p:nvGrpSpPr>
        <p:grpSpPr>
          <a:xfrm rot="-10800000">
            <a:off x="14128935" y="724060"/>
            <a:ext cx="256141" cy="2439474"/>
            <a:chOff x="0" y="0"/>
            <a:chExt cx="554046" cy="5276697"/>
          </a:xfrm>
        </p:grpSpPr>
        <p:sp>
          <p:nvSpPr>
            <p:cNvPr name="Freeform 4" id="4"/>
            <p:cNvSpPr/>
            <p:nvPr/>
          </p:nvSpPr>
          <p:spPr>
            <a:xfrm flipH="false" flipV="false" rot="0">
              <a:off x="0" y="0"/>
              <a:ext cx="554046" cy="5276697"/>
            </a:xfrm>
            <a:custGeom>
              <a:avLst/>
              <a:gdLst/>
              <a:ahLst/>
              <a:cxnLst/>
              <a:rect r="r" b="b" t="t" l="l"/>
              <a:pathLst>
                <a:path h="5276697" w="554046">
                  <a:moveTo>
                    <a:pt x="184782" y="5257628"/>
                  </a:moveTo>
                  <a:cubicBezTo>
                    <a:pt x="213186" y="5269142"/>
                    <a:pt x="245478" y="5276697"/>
                    <a:pt x="277172" y="5276697"/>
                  </a:cubicBezTo>
                  <a:cubicBezTo>
                    <a:pt x="308867" y="5276697"/>
                    <a:pt x="339365" y="5270220"/>
                    <a:pt x="367470" y="5258706"/>
                  </a:cubicBezTo>
                  <a:cubicBezTo>
                    <a:pt x="368068" y="5258346"/>
                    <a:pt x="368666" y="5258346"/>
                    <a:pt x="369264" y="5257987"/>
                  </a:cubicBezTo>
                  <a:cubicBezTo>
                    <a:pt x="474811" y="5211931"/>
                    <a:pt x="552551" y="5090318"/>
                    <a:pt x="554046" y="4849039"/>
                  </a:cubicBezTo>
                  <a:lnTo>
                    <a:pt x="554046" y="0"/>
                  </a:lnTo>
                  <a:lnTo>
                    <a:pt x="0" y="0"/>
                  </a:lnTo>
                  <a:lnTo>
                    <a:pt x="0" y="4845440"/>
                  </a:lnTo>
                  <a:cubicBezTo>
                    <a:pt x="1495" y="5091037"/>
                    <a:pt x="78039" y="5212652"/>
                    <a:pt x="184782" y="5257628"/>
                  </a:cubicBezTo>
                  <a:close/>
                </a:path>
              </a:pathLst>
            </a:custGeom>
            <a:gradFill rotWithShape="true">
              <a:gsLst>
                <a:gs pos="0">
                  <a:srgbClr val="FFFFFF">
                    <a:alpha val="100000"/>
                  </a:srgbClr>
                </a:gs>
                <a:gs pos="100000">
                  <a:srgbClr val="99BEFF">
                    <a:alpha val="100000"/>
                  </a:srgbClr>
                </a:gs>
              </a:gsLst>
              <a:path path="circle">
                <a:fillToRect l="0" r="100000" t="0" b="100000"/>
              </a:path>
              <a:tileRect r="0" l="-100000" b="0" t="-100000"/>
            </a:gradFill>
          </p:spPr>
        </p:sp>
        <p:sp>
          <p:nvSpPr>
            <p:cNvPr name="TextBox 5" id="5"/>
            <p:cNvSpPr txBox="true"/>
            <p:nvPr/>
          </p:nvSpPr>
          <p:spPr>
            <a:xfrm>
              <a:off x="0" y="-47625"/>
              <a:ext cx="554046" cy="519732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6046844" y="-2541887"/>
            <a:ext cx="3487752" cy="8407862"/>
            <a:chOff x="0" y="0"/>
            <a:chExt cx="519570" cy="1252517"/>
          </a:xfrm>
        </p:grpSpPr>
        <p:sp>
          <p:nvSpPr>
            <p:cNvPr name="Freeform 7" id="7"/>
            <p:cNvSpPr/>
            <p:nvPr/>
          </p:nvSpPr>
          <p:spPr>
            <a:xfrm flipH="false" flipV="false" rot="0">
              <a:off x="0" y="0"/>
              <a:ext cx="519570" cy="1252517"/>
            </a:xfrm>
            <a:custGeom>
              <a:avLst/>
              <a:gdLst/>
              <a:ahLst/>
              <a:cxnLst/>
              <a:rect r="r" b="b" t="t" l="l"/>
              <a:pathLst>
                <a:path h="1252517" w="519570">
                  <a:moveTo>
                    <a:pt x="221974" y="0"/>
                  </a:moveTo>
                  <a:lnTo>
                    <a:pt x="297595" y="0"/>
                  </a:lnTo>
                  <a:cubicBezTo>
                    <a:pt x="420188" y="0"/>
                    <a:pt x="519570" y="99381"/>
                    <a:pt x="519570" y="221974"/>
                  </a:cubicBezTo>
                  <a:lnTo>
                    <a:pt x="519570" y="1030543"/>
                  </a:lnTo>
                  <a:cubicBezTo>
                    <a:pt x="519570" y="1153136"/>
                    <a:pt x="420188" y="1252517"/>
                    <a:pt x="297595" y="1252517"/>
                  </a:cubicBezTo>
                  <a:lnTo>
                    <a:pt x="221974" y="1252517"/>
                  </a:lnTo>
                  <a:cubicBezTo>
                    <a:pt x="99381" y="1252517"/>
                    <a:pt x="0" y="1153136"/>
                    <a:pt x="0" y="1030543"/>
                  </a:cubicBezTo>
                  <a:lnTo>
                    <a:pt x="0" y="221974"/>
                  </a:lnTo>
                  <a:cubicBezTo>
                    <a:pt x="0" y="99381"/>
                    <a:pt x="99381" y="0"/>
                    <a:pt x="221974" y="0"/>
                  </a:cubicBezTo>
                  <a:close/>
                </a:path>
              </a:pathLst>
            </a:custGeom>
            <a:solidFill>
              <a:srgbClr val="0044BC">
                <a:alpha val="60000"/>
              </a:srgbClr>
            </a:solidFill>
            <a:ln w="12700">
              <a:solidFill>
                <a:srgbClr val="000000"/>
              </a:solidFill>
            </a:ln>
          </p:spPr>
        </p:sp>
      </p:grpSp>
      <p:grpSp>
        <p:nvGrpSpPr>
          <p:cNvPr name="Group 8" id="8"/>
          <p:cNvGrpSpPr/>
          <p:nvPr/>
        </p:nvGrpSpPr>
        <p:grpSpPr>
          <a:xfrm rot="-10800000">
            <a:off x="-1221525" y="4419861"/>
            <a:ext cx="3487752" cy="8407862"/>
            <a:chOff x="0" y="0"/>
            <a:chExt cx="519570" cy="1252517"/>
          </a:xfrm>
        </p:grpSpPr>
        <p:sp>
          <p:nvSpPr>
            <p:cNvPr name="Freeform 9" id="9"/>
            <p:cNvSpPr/>
            <p:nvPr/>
          </p:nvSpPr>
          <p:spPr>
            <a:xfrm flipH="false" flipV="false" rot="0">
              <a:off x="0" y="0"/>
              <a:ext cx="519570" cy="1252517"/>
            </a:xfrm>
            <a:custGeom>
              <a:avLst/>
              <a:gdLst/>
              <a:ahLst/>
              <a:cxnLst/>
              <a:rect r="r" b="b" t="t" l="l"/>
              <a:pathLst>
                <a:path h="1252517" w="519570">
                  <a:moveTo>
                    <a:pt x="221974" y="0"/>
                  </a:moveTo>
                  <a:lnTo>
                    <a:pt x="297595" y="0"/>
                  </a:lnTo>
                  <a:cubicBezTo>
                    <a:pt x="420188" y="0"/>
                    <a:pt x="519570" y="99381"/>
                    <a:pt x="519570" y="221974"/>
                  </a:cubicBezTo>
                  <a:lnTo>
                    <a:pt x="519570" y="1030543"/>
                  </a:lnTo>
                  <a:cubicBezTo>
                    <a:pt x="519570" y="1153136"/>
                    <a:pt x="420188" y="1252517"/>
                    <a:pt x="297595" y="1252517"/>
                  </a:cubicBezTo>
                  <a:lnTo>
                    <a:pt x="221974" y="1252517"/>
                  </a:lnTo>
                  <a:cubicBezTo>
                    <a:pt x="99381" y="1252517"/>
                    <a:pt x="0" y="1153136"/>
                    <a:pt x="0" y="1030543"/>
                  </a:cubicBezTo>
                  <a:lnTo>
                    <a:pt x="0" y="221974"/>
                  </a:lnTo>
                  <a:cubicBezTo>
                    <a:pt x="0" y="99381"/>
                    <a:pt x="99381" y="0"/>
                    <a:pt x="221974" y="0"/>
                  </a:cubicBezTo>
                  <a:close/>
                </a:path>
              </a:pathLst>
            </a:custGeom>
            <a:solidFill>
              <a:srgbClr val="0044BC">
                <a:alpha val="60000"/>
              </a:srgbClr>
            </a:solidFill>
            <a:ln w="12700">
              <a:solidFill>
                <a:srgbClr val="000000"/>
              </a:solidFill>
            </a:ln>
          </p:spPr>
        </p:sp>
      </p:grpSp>
      <p:grpSp>
        <p:nvGrpSpPr>
          <p:cNvPr name="Group 10" id="10"/>
          <p:cNvGrpSpPr/>
          <p:nvPr/>
        </p:nvGrpSpPr>
        <p:grpSpPr>
          <a:xfrm rot="713487">
            <a:off x="-1543050" y="7200900"/>
            <a:ext cx="3086100" cy="3086100"/>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FFFFF">
                    <a:alpha val="100000"/>
                  </a:srgbClr>
                </a:gs>
                <a:gs pos="100000">
                  <a:srgbClr val="99BEFF">
                    <a:alpha val="100000"/>
                  </a:srgbClr>
                </a:gs>
              </a:gsLst>
              <a:path path="circle">
                <a:fillToRect l="0" r="100000" t="0" b="100000"/>
              </a:path>
              <a:tileRect r="0" l="-100000" b="0" t="-100000"/>
            </a:gradFill>
          </p:spPr>
        </p:sp>
        <p:sp>
          <p:nvSpPr>
            <p:cNvPr name="TextBox 12" id="12"/>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2566108">
            <a:off x="16506507" y="-514350"/>
            <a:ext cx="2961201" cy="2961201"/>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9BEFF">
                    <a:alpha val="100000"/>
                  </a:srgbClr>
                </a:gs>
                <a:gs pos="100000">
                  <a:srgbClr val="FFFFFF">
                    <a:alpha val="100000"/>
                  </a:srgbClr>
                </a:gs>
              </a:gsLst>
              <a:path path="circle">
                <a:fillToRect l="0" r="100000" t="0" b="100000"/>
              </a:path>
              <a:tileRect r="0" l="-100000" b="0" t="-100000"/>
            </a:gradFill>
          </p:spPr>
        </p:sp>
        <p:sp>
          <p:nvSpPr>
            <p:cNvPr name="TextBox 15" id="15"/>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10188442">
            <a:off x="1839726" y="1217249"/>
            <a:ext cx="889590" cy="889590"/>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9BEFF">
                    <a:alpha val="100000"/>
                  </a:srgbClr>
                </a:gs>
                <a:gs pos="100000">
                  <a:srgbClr val="FFFFFF">
                    <a:alpha val="100000"/>
                  </a:srgbClr>
                </a:gs>
              </a:gsLst>
              <a:path path="circle">
                <a:fillToRect l="0" r="100000" t="0" b="100000"/>
              </a:path>
              <a:tileRect r="0" l="-100000" b="0" t="-100000"/>
            </a:gradFill>
          </p:spPr>
        </p:sp>
        <p:sp>
          <p:nvSpPr>
            <p:cNvPr name="TextBox 18" id="18"/>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445527" y="-935849"/>
            <a:ext cx="1166346" cy="3319817"/>
            <a:chOff x="0" y="0"/>
            <a:chExt cx="554046" cy="1577001"/>
          </a:xfrm>
        </p:grpSpPr>
        <p:sp>
          <p:nvSpPr>
            <p:cNvPr name="Freeform 20" id="20"/>
            <p:cNvSpPr/>
            <p:nvPr/>
          </p:nvSpPr>
          <p:spPr>
            <a:xfrm flipH="false" flipV="false" rot="0">
              <a:off x="0" y="0"/>
              <a:ext cx="554046" cy="1577001"/>
            </a:xfrm>
            <a:custGeom>
              <a:avLst/>
              <a:gdLst/>
              <a:ahLst/>
              <a:cxnLst/>
              <a:rect r="r" b="b" t="t" l="l"/>
              <a:pathLst>
                <a:path h="1577001" w="554046">
                  <a:moveTo>
                    <a:pt x="184782" y="1557932"/>
                  </a:moveTo>
                  <a:cubicBezTo>
                    <a:pt x="213186" y="1569446"/>
                    <a:pt x="245478" y="1577001"/>
                    <a:pt x="277172" y="1577001"/>
                  </a:cubicBezTo>
                  <a:cubicBezTo>
                    <a:pt x="308867" y="1577001"/>
                    <a:pt x="339365" y="1570524"/>
                    <a:pt x="367470" y="1559010"/>
                  </a:cubicBezTo>
                  <a:cubicBezTo>
                    <a:pt x="368068" y="1558651"/>
                    <a:pt x="368666" y="1558651"/>
                    <a:pt x="369264" y="1558292"/>
                  </a:cubicBezTo>
                  <a:cubicBezTo>
                    <a:pt x="474811" y="1512236"/>
                    <a:pt x="552551" y="1390622"/>
                    <a:pt x="554046" y="1231524"/>
                  </a:cubicBezTo>
                  <a:lnTo>
                    <a:pt x="554046" y="0"/>
                  </a:lnTo>
                  <a:lnTo>
                    <a:pt x="0" y="0"/>
                  </a:lnTo>
                  <a:lnTo>
                    <a:pt x="0" y="1230610"/>
                  </a:lnTo>
                  <a:cubicBezTo>
                    <a:pt x="1495" y="1391341"/>
                    <a:pt x="78039" y="1512956"/>
                    <a:pt x="184782" y="1557932"/>
                  </a:cubicBezTo>
                  <a:close/>
                </a:path>
              </a:pathLst>
            </a:custGeom>
            <a:gradFill rotWithShape="true">
              <a:gsLst>
                <a:gs pos="0">
                  <a:srgbClr val="FFFFFF">
                    <a:alpha val="100000"/>
                  </a:srgbClr>
                </a:gs>
                <a:gs pos="100000">
                  <a:srgbClr val="99BEFF">
                    <a:alpha val="100000"/>
                  </a:srgbClr>
                </a:gs>
              </a:gsLst>
              <a:path path="circle">
                <a:fillToRect l="0" r="100000" t="0" b="100000"/>
              </a:path>
              <a:tileRect r="0" l="-100000" b="0" t="-100000"/>
            </a:gradFill>
          </p:spPr>
        </p:sp>
        <p:sp>
          <p:nvSpPr>
            <p:cNvPr name="TextBox 21" id="21"/>
            <p:cNvSpPr txBox="true"/>
            <p:nvPr/>
          </p:nvSpPr>
          <p:spPr>
            <a:xfrm>
              <a:off x="0" y="-47625"/>
              <a:ext cx="554046" cy="1497626"/>
            </a:xfrm>
            <a:prstGeom prst="rect">
              <a:avLst/>
            </a:prstGeom>
          </p:spPr>
          <p:txBody>
            <a:bodyPr anchor="ctr" rtlCol="false" tIns="50800" lIns="50800" bIns="50800" rIns="50800"/>
            <a:lstStyle/>
            <a:p>
              <a:pPr algn="ctr">
                <a:lnSpc>
                  <a:spcPts val="2659"/>
                </a:lnSpc>
              </a:pPr>
            </a:p>
          </p:txBody>
        </p:sp>
      </p:grpSp>
      <p:grpSp>
        <p:nvGrpSpPr>
          <p:cNvPr name="Group 22" id="22"/>
          <p:cNvGrpSpPr/>
          <p:nvPr/>
        </p:nvGrpSpPr>
        <p:grpSpPr>
          <a:xfrm rot="-10800000">
            <a:off x="17790720" y="6382460"/>
            <a:ext cx="392775" cy="3740767"/>
            <a:chOff x="0" y="0"/>
            <a:chExt cx="554046" cy="5276697"/>
          </a:xfrm>
        </p:grpSpPr>
        <p:sp>
          <p:nvSpPr>
            <p:cNvPr name="Freeform 23" id="23"/>
            <p:cNvSpPr/>
            <p:nvPr/>
          </p:nvSpPr>
          <p:spPr>
            <a:xfrm flipH="false" flipV="false" rot="0">
              <a:off x="0" y="0"/>
              <a:ext cx="554046" cy="5276697"/>
            </a:xfrm>
            <a:custGeom>
              <a:avLst/>
              <a:gdLst/>
              <a:ahLst/>
              <a:cxnLst/>
              <a:rect r="r" b="b" t="t" l="l"/>
              <a:pathLst>
                <a:path h="5276697" w="554046">
                  <a:moveTo>
                    <a:pt x="184782" y="5257628"/>
                  </a:moveTo>
                  <a:cubicBezTo>
                    <a:pt x="213186" y="5269142"/>
                    <a:pt x="245478" y="5276697"/>
                    <a:pt x="277172" y="5276697"/>
                  </a:cubicBezTo>
                  <a:cubicBezTo>
                    <a:pt x="308867" y="5276697"/>
                    <a:pt x="339365" y="5270220"/>
                    <a:pt x="367470" y="5258706"/>
                  </a:cubicBezTo>
                  <a:cubicBezTo>
                    <a:pt x="368068" y="5258346"/>
                    <a:pt x="368666" y="5258346"/>
                    <a:pt x="369264" y="5257987"/>
                  </a:cubicBezTo>
                  <a:cubicBezTo>
                    <a:pt x="474811" y="5211931"/>
                    <a:pt x="552551" y="5090318"/>
                    <a:pt x="554046" y="4849039"/>
                  </a:cubicBezTo>
                  <a:lnTo>
                    <a:pt x="554046" y="0"/>
                  </a:lnTo>
                  <a:lnTo>
                    <a:pt x="0" y="0"/>
                  </a:lnTo>
                  <a:lnTo>
                    <a:pt x="0" y="4845440"/>
                  </a:lnTo>
                  <a:cubicBezTo>
                    <a:pt x="1495" y="5091037"/>
                    <a:pt x="78039" y="5212652"/>
                    <a:pt x="184782" y="5257628"/>
                  </a:cubicBezTo>
                  <a:close/>
                </a:path>
              </a:pathLst>
            </a:custGeom>
            <a:gradFill rotWithShape="true">
              <a:gsLst>
                <a:gs pos="0">
                  <a:srgbClr val="FFFFFF">
                    <a:alpha val="100000"/>
                  </a:srgbClr>
                </a:gs>
                <a:gs pos="100000">
                  <a:srgbClr val="99BEFF">
                    <a:alpha val="100000"/>
                  </a:srgbClr>
                </a:gs>
              </a:gsLst>
              <a:path path="circle">
                <a:fillToRect l="0" r="100000" t="0" b="100000"/>
              </a:path>
              <a:tileRect r="0" l="-100000" b="0" t="-100000"/>
            </a:gradFill>
          </p:spPr>
        </p:sp>
        <p:sp>
          <p:nvSpPr>
            <p:cNvPr name="TextBox 24" id="24"/>
            <p:cNvSpPr txBox="true"/>
            <p:nvPr/>
          </p:nvSpPr>
          <p:spPr>
            <a:xfrm>
              <a:off x="0" y="-47625"/>
              <a:ext cx="554046" cy="5197322"/>
            </a:xfrm>
            <a:prstGeom prst="rect">
              <a:avLst/>
            </a:prstGeom>
          </p:spPr>
          <p:txBody>
            <a:bodyPr anchor="ctr" rtlCol="false" tIns="50800" lIns="50800" bIns="50800" rIns="50800"/>
            <a:lstStyle/>
            <a:p>
              <a:pPr algn="ctr">
                <a:lnSpc>
                  <a:spcPts val="2659"/>
                </a:lnSpc>
              </a:pPr>
            </a:p>
          </p:txBody>
        </p:sp>
      </p:grpSp>
      <p:grpSp>
        <p:nvGrpSpPr>
          <p:cNvPr name="Group 25" id="25"/>
          <p:cNvGrpSpPr/>
          <p:nvPr/>
        </p:nvGrpSpPr>
        <p:grpSpPr>
          <a:xfrm rot="0">
            <a:off x="12931141" y="-1957881"/>
            <a:ext cx="9350124" cy="3265408"/>
            <a:chOff x="0" y="0"/>
            <a:chExt cx="2462584" cy="860025"/>
          </a:xfrm>
        </p:grpSpPr>
        <p:sp>
          <p:nvSpPr>
            <p:cNvPr name="Freeform 26" id="26"/>
            <p:cNvSpPr/>
            <p:nvPr/>
          </p:nvSpPr>
          <p:spPr>
            <a:xfrm flipH="false" flipV="false" rot="0">
              <a:off x="0" y="0"/>
              <a:ext cx="2462584" cy="860025"/>
            </a:xfrm>
            <a:custGeom>
              <a:avLst/>
              <a:gdLst/>
              <a:ahLst/>
              <a:cxnLst/>
              <a:rect r="r" b="b" t="t" l="l"/>
              <a:pathLst>
                <a:path h="860025" w="2462584">
                  <a:moveTo>
                    <a:pt x="42228" y="0"/>
                  </a:moveTo>
                  <a:lnTo>
                    <a:pt x="2420356" y="0"/>
                  </a:lnTo>
                  <a:cubicBezTo>
                    <a:pt x="2431555" y="0"/>
                    <a:pt x="2442296" y="4449"/>
                    <a:pt x="2450216" y="12368"/>
                  </a:cubicBezTo>
                  <a:cubicBezTo>
                    <a:pt x="2458135" y="20288"/>
                    <a:pt x="2462584" y="31029"/>
                    <a:pt x="2462584" y="42228"/>
                  </a:cubicBezTo>
                  <a:lnTo>
                    <a:pt x="2462584" y="817797"/>
                  </a:lnTo>
                  <a:cubicBezTo>
                    <a:pt x="2462584" y="828996"/>
                    <a:pt x="2458135" y="839737"/>
                    <a:pt x="2450216" y="847657"/>
                  </a:cubicBezTo>
                  <a:cubicBezTo>
                    <a:pt x="2442296" y="855576"/>
                    <a:pt x="2431555" y="860025"/>
                    <a:pt x="2420356" y="860025"/>
                  </a:cubicBezTo>
                  <a:lnTo>
                    <a:pt x="42228" y="860025"/>
                  </a:lnTo>
                  <a:cubicBezTo>
                    <a:pt x="31029" y="860025"/>
                    <a:pt x="20288" y="855576"/>
                    <a:pt x="12368" y="847657"/>
                  </a:cubicBezTo>
                  <a:cubicBezTo>
                    <a:pt x="4449" y="839737"/>
                    <a:pt x="0" y="828996"/>
                    <a:pt x="0" y="817797"/>
                  </a:cubicBezTo>
                  <a:lnTo>
                    <a:pt x="0" y="42228"/>
                  </a:lnTo>
                  <a:cubicBezTo>
                    <a:pt x="0" y="31029"/>
                    <a:pt x="4449" y="20288"/>
                    <a:pt x="12368" y="12368"/>
                  </a:cubicBezTo>
                  <a:cubicBezTo>
                    <a:pt x="20288" y="4449"/>
                    <a:pt x="31029" y="0"/>
                    <a:pt x="42228" y="0"/>
                  </a:cubicBezTo>
                  <a:close/>
                </a:path>
              </a:pathLst>
            </a:custGeom>
            <a:gradFill rotWithShape="true">
              <a:gsLst>
                <a:gs pos="0">
                  <a:srgbClr val="99BEFF">
                    <a:alpha val="100000"/>
                  </a:srgbClr>
                </a:gs>
                <a:gs pos="100000">
                  <a:srgbClr val="FFFFFF">
                    <a:alpha val="100000"/>
                  </a:srgbClr>
                </a:gs>
              </a:gsLst>
              <a:path path="circle">
                <a:fillToRect l="0" r="100000" t="0" b="100000"/>
              </a:path>
              <a:tileRect r="0" l="-100000" b="0" t="-100000"/>
            </a:gradFill>
          </p:spPr>
        </p:sp>
        <p:sp>
          <p:nvSpPr>
            <p:cNvPr name="TextBox 27" id="27"/>
            <p:cNvSpPr txBox="true"/>
            <p:nvPr/>
          </p:nvSpPr>
          <p:spPr>
            <a:xfrm>
              <a:off x="0" y="-47625"/>
              <a:ext cx="2462584" cy="907650"/>
            </a:xfrm>
            <a:prstGeom prst="rect">
              <a:avLst/>
            </a:prstGeom>
          </p:spPr>
          <p:txBody>
            <a:bodyPr anchor="ctr" rtlCol="false" tIns="50800" lIns="50800" bIns="50800" rIns="50800"/>
            <a:lstStyle/>
            <a:p>
              <a:pPr algn="ctr">
                <a:lnSpc>
                  <a:spcPts val="2659"/>
                </a:lnSpc>
              </a:pPr>
            </a:p>
          </p:txBody>
        </p:sp>
      </p:grpSp>
      <p:sp>
        <p:nvSpPr>
          <p:cNvPr name="Freeform 28" id="28"/>
          <p:cNvSpPr/>
          <p:nvPr/>
        </p:nvSpPr>
        <p:spPr>
          <a:xfrm flipH="false" flipV="false" rot="0">
            <a:off x="16567818" y="141696"/>
            <a:ext cx="1038385" cy="1038385"/>
          </a:xfrm>
          <a:custGeom>
            <a:avLst/>
            <a:gdLst/>
            <a:ahLst/>
            <a:cxnLst/>
            <a:rect r="r" b="b" t="t" l="l"/>
            <a:pathLst>
              <a:path h="1038385" w="1038385">
                <a:moveTo>
                  <a:pt x="0" y="0"/>
                </a:moveTo>
                <a:lnTo>
                  <a:pt x="1038385" y="0"/>
                </a:lnTo>
                <a:lnTo>
                  <a:pt x="1038385" y="1038385"/>
                </a:lnTo>
                <a:lnTo>
                  <a:pt x="0" y="1038385"/>
                </a:lnTo>
                <a:lnTo>
                  <a:pt x="0" y="0"/>
                </a:lnTo>
                <a:close/>
              </a:path>
            </a:pathLst>
          </a:custGeom>
          <a:blipFill>
            <a:blip r:embed="rId3"/>
            <a:stretch>
              <a:fillRect l="0" t="0" r="0" b="0"/>
            </a:stretch>
          </a:blipFill>
        </p:spPr>
      </p:sp>
      <p:sp>
        <p:nvSpPr>
          <p:cNvPr name="Freeform 29" id="29"/>
          <p:cNvSpPr/>
          <p:nvPr/>
        </p:nvSpPr>
        <p:spPr>
          <a:xfrm flipH="false" flipV="false" rot="0">
            <a:off x="14939414" y="72651"/>
            <a:ext cx="1107430" cy="1107430"/>
          </a:xfrm>
          <a:custGeom>
            <a:avLst/>
            <a:gdLst/>
            <a:ahLst/>
            <a:cxnLst/>
            <a:rect r="r" b="b" t="t" l="l"/>
            <a:pathLst>
              <a:path h="1107430" w="1107430">
                <a:moveTo>
                  <a:pt x="0" y="0"/>
                </a:moveTo>
                <a:lnTo>
                  <a:pt x="1107430" y="0"/>
                </a:lnTo>
                <a:lnTo>
                  <a:pt x="1107430" y="1107430"/>
                </a:lnTo>
                <a:lnTo>
                  <a:pt x="0" y="1107430"/>
                </a:lnTo>
                <a:lnTo>
                  <a:pt x="0" y="0"/>
                </a:lnTo>
                <a:close/>
              </a:path>
            </a:pathLst>
          </a:custGeom>
          <a:blipFill>
            <a:blip r:embed="rId4"/>
            <a:stretch>
              <a:fillRect l="0" t="0" r="0" b="0"/>
            </a:stretch>
          </a:blipFill>
        </p:spPr>
      </p:sp>
      <p:sp>
        <p:nvSpPr>
          <p:cNvPr name="Freeform 30" id="30"/>
          <p:cNvSpPr/>
          <p:nvPr/>
        </p:nvSpPr>
        <p:spPr>
          <a:xfrm flipH="false" flipV="false" rot="0">
            <a:off x="13386839" y="72651"/>
            <a:ext cx="1028700" cy="1028700"/>
          </a:xfrm>
          <a:custGeom>
            <a:avLst/>
            <a:gdLst/>
            <a:ahLst/>
            <a:cxnLst/>
            <a:rect r="r" b="b" t="t" l="l"/>
            <a:pathLst>
              <a:path h="1028700" w="1028700">
                <a:moveTo>
                  <a:pt x="0" y="0"/>
                </a:moveTo>
                <a:lnTo>
                  <a:pt x="1028700" y="0"/>
                </a:lnTo>
                <a:lnTo>
                  <a:pt x="1028700" y="1028700"/>
                </a:lnTo>
                <a:lnTo>
                  <a:pt x="0" y="1028700"/>
                </a:lnTo>
                <a:lnTo>
                  <a:pt x="0" y="0"/>
                </a:lnTo>
                <a:close/>
              </a:path>
            </a:pathLst>
          </a:custGeom>
          <a:blipFill>
            <a:blip r:embed="rId5"/>
            <a:stretch>
              <a:fillRect l="0" t="0" r="0" b="0"/>
            </a:stretch>
          </a:blipFill>
        </p:spPr>
      </p:sp>
      <p:sp>
        <p:nvSpPr>
          <p:cNvPr name="TextBox 31" id="31"/>
          <p:cNvSpPr txBox="true"/>
          <p:nvPr/>
        </p:nvSpPr>
        <p:spPr>
          <a:xfrm rot="0">
            <a:off x="1710497" y="2103847"/>
            <a:ext cx="14867006" cy="4400646"/>
          </a:xfrm>
          <a:prstGeom prst="rect">
            <a:avLst/>
          </a:prstGeom>
        </p:spPr>
        <p:txBody>
          <a:bodyPr anchor="t" rtlCol="false" tIns="0" lIns="0" bIns="0" rIns="0">
            <a:spAutoFit/>
          </a:bodyPr>
          <a:lstStyle/>
          <a:p>
            <a:pPr algn="ctr">
              <a:lnSpc>
                <a:spcPts val="6937"/>
              </a:lnSpc>
            </a:pPr>
            <a:r>
              <a:rPr lang="en-US" b="true" sz="6606">
                <a:solidFill>
                  <a:srgbClr val="0037BC"/>
                </a:solidFill>
                <a:latin typeface="Canva Sans Bold"/>
                <a:ea typeface="Canva Sans Bold"/>
                <a:cs typeface="Canva Sans Bold"/>
                <a:sym typeface="Canva Sans Bold"/>
              </a:rPr>
              <a:t>PEMBANGKITAN BILANGAN ACAK PADA STUDI KASUS</a:t>
            </a:r>
          </a:p>
          <a:p>
            <a:pPr algn="ctr">
              <a:lnSpc>
                <a:spcPts val="6937"/>
              </a:lnSpc>
            </a:pPr>
            <a:r>
              <a:rPr lang="en-US" b="true" sz="6606">
                <a:solidFill>
                  <a:srgbClr val="0037BC"/>
                </a:solidFill>
                <a:latin typeface="Canva Sans Bold"/>
                <a:ea typeface="Canva Sans Bold"/>
                <a:cs typeface="Canva Sans Bold"/>
                <a:sym typeface="Canva Sans Bold"/>
              </a:rPr>
              <a:t>FREKUENSI PENGUNJUNG PERPUSTAKAAN GKU 1 ITERA PADA HARI KERJA </a:t>
            </a:r>
          </a:p>
        </p:txBody>
      </p:sp>
      <p:sp>
        <p:nvSpPr>
          <p:cNvPr name="TextBox 32" id="32"/>
          <p:cNvSpPr txBox="true"/>
          <p:nvPr/>
        </p:nvSpPr>
        <p:spPr>
          <a:xfrm rot="0">
            <a:off x="522351" y="1231326"/>
            <a:ext cx="8332751" cy="712470"/>
          </a:xfrm>
          <a:prstGeom prst="rect">
            <a:avLst/>
          </a:prstGeom>
        </p:spPr>
        <p:txBody>
          <a:bodyPr anchor="t" rtlCol="false" tIns="0" lIns="0" bIns="0" rIns="0">
            <a:spAutoFit/>
          </a:bodyPr>
          <a:lstStyle/>
          <a:p>
            <a:pPr algn="l">
              <a:lnSpc>
                <a:spcPts val="5880"/>
              </a:lnSpc>
              <a:spcBef>
                <a:spcPct val="0"/>
              </a:spcBef>
            </a:pPr>
            <a:r>
              <a:rPr lang="en-US" b="true" sz="4200" spc="-84">
                <a:solidFill>
                  <a:srgbClr val="0037BC"/>
                </a:solidFill>
                <a:latin typeface="Canva Sans Bold"/>
                <a:ea typeface="Canva Sans Bold"/>
                <a:cs typeface="Canva Sans Bold"/>
                <a:sym typeface="Canva Sans Bold"/>
              </a:rPr>
              <a:t>KOMPUTASI STATISTIK RA</a:t>
            </a:r>
          </a:p>
        </p:txBody>
      </p:sp>
      <p:sp>
        <p:nvSpPr>
          <p:cNvPr name="TextBox 33" id="33"/>
          <p:cNvSpPr txBox="true"/>
          <p:nvPr/>
        </p:nvSpPr>
        <p:spPr>
          <a:xfrm rot="0">
            <a:off x="5871560" y="7759821"/>
            <a:ext cx="7733091" cy="1920634"/>
          </a:xfrm>
          <a:prstGeom prst="rect">
            <a:avLst/>
          </a:prstGeom>
        </p:spPr>
        <p:txBody>
          <a:bodyPr anchor="t" rtlCol="false" tIns="0" lIns="0" bIns="0" rIns="0">
            <a:spAutoFit/>
          </a:bodyPr>
          <a:lstStyle/>
          <a:p>
            <a:pPr algn="just" marL="595777" indent="-297889" lvl="1">
              <a:lnSpc>
                <a:spcPts val="3863"/>
              </a:lnSpc>
              <a:buFont typeface="Arial"/>
              <a:buChar char="•"/>
            </a:pPr>
            <a:r>
              <a:rPr lang="en-US" b="true" sz="2759" spc="-55">
                <a:solidFill>
                  <a:srgbClr val="0044BC"/>
                </a:solidFill>
                <a:latin typeface="Canva Sans Bold"/>
                <a:ea typeface="Canva Sans Bold"/>
                <a:cs typeface="Canva Sans Bold"/>
                <a:sym typeface="Canva Sans Bold"/>
              </a:rPr>
              <a:t>Pramudya Wibowo  (121450030)</a:t>
            </a:r>
          </a:p>
          <a:p>
            <a:pPr algn="just" marL="595777" indent="-297889" lvl="1">
              <a:lnSpc>
                <a:spcPts val="3863"/>
              </a:lnSpc>
              <a:buFont typeface="Arial"/>
              <a:buChar char="•"/>
            </a:pPr>
            <a:r>
              <a:rPr lang="en-US" b="true" sz="2759" spc="-55">
                <a:solidFill>
                  <a:srgbClr val="0044BC"/>
                </a:solidFill>
                <a:latin typeface="Canva Sans Bold"/>
                <a:ea typeface="Canva Sans Bold"/>
                <a:cs typeface="Canva Sans Bold"/>
                <a:sym typeface="Canva Sans Bold"/>
              </a:rPr>
              <a:t>Rahma Oktavia Albar (123450003)</a:t>
            </a:r>
          </a:p>
          <a:p>
            <a:pPr algn="just" marL="595777" indent="-297889" lvl="1">
              <a:lnSpc>
                <a:spcPts val="3863"/>
              </a:lnSpc>
              <a:buFont typeface="Arial"/>
              <a:buChar char="•"/>
            </a:pPr>
            <a:r>
              <a:rPr lang="en-US" b="true" sz="2759" spc="-55">
                <a:solidFill>
                  <a:srgbClr val="0044BC"/>
                </a:solidFill>
                <a:latin typeface="Canva Sans Bold"/>
                <a:ea typeface="Canva Sans Bold"/>
                <a:cs typeface="Canva Sans Bold"/>
                <a:sym typeface="Canva Sans Bold"/>
              </a:rPr>
              <a:t>Tanty Widyastuti (123450094)</a:t>
            </a:r>
          </a:p>
          <a:p>
            <a:pPr algn="just" marL="595777" indent="-297889" lvl="1">
              <a:lnSpc>
                <a:spcPts val="3863"/>
              </a:lnSpc>
              <a:buFont typeface="Arial"/>
              <a:buChar char="•"/>
            </a:pPr>
            <a:r>
              <a:rPr lang="en-US" b="true" sz="2759" spc="-55">
                <a:solidFill>
                  <a:srgbClr val="0044BC"/>
                </a:solidFill>
                <a:latin typeface="Canva Sans Bold"/>
                <a:ea typeface="Canva Sans Bold"/>
                <a:cs typeface="Canva Sans Bold"/>
                <a:sym typeface="Canva Sans Bold"/>
              </a:rPr>
              <a:t>Ihsan Maulana Yusuf (123450110)</a:t>
            </a:r>
          </a:p>
        </p:txBody>
      </p:sp>
      <p:sp>
        <p:nvSpPr>
          <p:cNvPr name="TextBox 34" id="34"/>
          <p:cNvSpPr txBox="true"/>
          <p:nvPr/>
        </p:nvSpPr>
        <p:spPr>
          <a:xfrm rot="0">
            <a:off x="5271900" y="7006733"/>
            <a:ext cx="8332751" cy="511810"/>
          </a:xfrm>
          <a:prstGeom prst="rect">
            <a:avLst/>
          </a:prstGeom>
        </p:spPr>
        <p:txBody>
          <a:bodyPr anchor="t" rtlCol="false" tIns="0" lIns="0" bIns="0" rIns="0">
            <a:spAutoFit/>
          </a:bodyPr>
          <a:lstStyle/>
          <a:p>
            <a:pPr algn="l">
              <a:lnSpc>
                <a:spcPts val="4339"/>
              </a:lnSpc>
              <a:spcBef>
                <a:spcPct val="0"/>
              </a:spcBef>
            </a:pPr>
            <a:r>
              <a:rPr lang="en-US" b="true" sz="3099" spc="-61">
                <a:solidFill>
                  <a:srgbClr val="0037BC"/>
                </a:solidFill>
                <a:latin typeface="Canva Sans Bold"/>
                <a:ea typeface="Canva Sans Bold"/>
                <a:cs typeface="Canva Sans Bold"/>
                <a:sym typeface="Canva Sans Bold"/>
              </a:rPr>
              <a:t>Kelompok 2 - Pembangkitan Bilangan Acak </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86746" y="-1406234"/>
            <a:ext cx="19689922" cy="13118410"/>
          </a:xfrm>
          <a:custGeom>
            <a:avLst/>
            <a:gdLst/>
            <a:ahLst/>
            <a:cxnLst/>
            <a:rect r="r" b="b" t="t" l="l"/>
            <a:pathLst>
              <a:path h="13118410" w="19689922">
                <a:moveTo>
                  <a:pt x="0" y="0"/>
                </a:moveTo>
                <a:lnTo>
                  <a:pt x="19689922" y="0"/>
                </a:lnTo>
                <a:lnTo>
                  <a:pt x="19689922" y="13118410"/>
                </a:lnTo>
                <a:lnTo>
                  <a:pt x="0" y="13118410"/>
                </a:lnTo>
                <a:lnTo>
                  <a:pt x="0" y="0"/>
                </a:lnTo>
                <a:close/>
              </a:path>
            </a:pathLst>
          </a:custGeom>
          <a:blipFill>
            <a:blip r:embed="rId2">
              <a:alphaModFix amt="23000"/>
            </a:blip>
            <a:stretch>
              <a:fillRect l="0" t="0" r="0" b="0"/>
            </a:stretch>
          </a:blipFill>
        </p:spPr>
      </p:sp>
      <p:grpSp>
        <p:nvGrpSpPr>
          <p:cNvPr name="Group 3" id="3"/>
          <p:cNvGrpSpPr/>
          <p:nvPr/>
        </p:nvGrpSpPr>
        <p:grpSpPr>
          <a:xfrm rot="-10800000">
            <a:off x="14128935" y="724060"/>
            <a:ext cx="256141" cy="2439474"/>
            <a:chOff x="0" y="0"/>
            <a:chExt cx="554046" cy="5276697"/>
          </a:xfrm>
        </p:grpSpPr>
        <p:sp>
          <p:nvSpPr>
            <p:cNvPr name="Freeform 4" id="4"/>
            <p:cNvSpPr/>
            <p:nvPr/>
          </p:nvSpPr>
          <p:spPr>
            <a:xfrm flipH="false" flipV="false" rot="0">
              <a:off x="0" y="0"/>
              <a:ext cx="554046" cy="5276697"/>
            </a:xfrm>
            <a:custGeom>
              <a:avLst/>
              <a:gdLst/>
              <a:ahLst/>
              <a:cxnLst/>
              <a:rect r="r" b="b" t="t" l="l"/>
              <a:pathLst>
                <a:path h="5276697" w="554046">
                  <a:moveTo>
                    <a:pt x="184782" y="5257628"/>
                  </a:moveTo>
                  <a:cubicBezTo>
                    <a:pt x="213186" y="5269142"/>
                    <a:pt x="245478" y="5276697"/>
                    <a:pt x="277172" y="5276697"/>
                  </a:cubicBezTo>
                  <a:cubicBezTo>
                    <a:pt x="308867" y="5276697"/>
                    <a:pt x="339365" y="5270220"/>
                    <a:pt x="367470" y="5258706"/>
                  </a:cubicBezTo>
                  <a:cubicBezTo>
                    <a:pt x="368068" y="5258346"/>
                    <a:pt x="368666" y="5258346"/>
                    <a:pt x="369264" y="5257987"/>
                  </a:cubicBezTo>
                  <a:cubicBezTo>
                    <a:pt x="474811" y="5211931"/>
                    <a:pt x="552551" y="5090318"/>
                    <a:pt x="554046" y="4849039"/>
                  </a:cubicBezTo>
                  <a:lnTo>
                    <a:pt x="554046" y="0"/>
                  </a:lnTo>
                  <a:lnTo>
                    <a:pt x="0" y="0"/>
                  </a:lnTo>
                  <a:lnTo>
                    <a:pt x="0" y="4845440"/>
                  </a:lnTo>
                  <a:cubicBezTo>
                    <a:pt x="1495" y="5091037"/>
                    <a:pt x="78039" y="5212652"/>
                    <a:pt x="184782" y="5257628"/>
                  </a:cubicBezTo>
                  <a:close/>
                </a:path>
              </a:pathLst>
            </a:custGeom>
            <a:gradFill rotWithShape="true">
              <a:gsLst>
                <a:gs pos="0">
                  <a:srgbClr val="FFFFFF">
                    <a:alpha val="100000"/>
                  </a:srgbClr>
                </a:gs>
                <a:gs pos="100000">
                  <a:srgbClr val="99BEFF">
                    <a:alpha val="100000"/>
                  </a:srgbClr>
                </a:gs>
              </a:gsLst>
              <a:path path="circle">
                <a:fillToRect l="0" r="100000" t="0" b="100000"/>
              </a:path>
              <a:tileRect r="0" l="-100000" b="0" t="-100000"/>
            </a:gradFill>
          </p:spPr>
        </p:sp>
        <p:sp>
          <p:nvSpPr>
            <p:cNvPr name="TextBox 5" id="5"/>
            <p:cNvSpPr txBox="true"/>
            <p:nvPr/>
          </p:nvSpPr>
          <p:spPr>
            <a:xfrm>
              <a:off x="0" y="-47625"/>
              <a:ext cx="554046" cy="519732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6046844" y="-2541887"/>
            <a:ext cx="3487752" cy="8407862"/>
            <a:chOff x="0" y="0"/>
            <a:chExt cx="519570" cy="1252517"/>
          </a:xfrm>
        </p:grpSpPr>
        <p:sp>
          <p:nvSpPr>
            <p:cNvPr name="Freeform 7" id="7"/>
            <p:cNvSpPr/>
            <p:nvPr/>
          </p:nvSpPr>
          <p:spPr>
            <a:xfrm flipH="false" flipV="false" rot="0">
              <a:off x="0" y="0"/>
              <a:ext cx="519570" cy="1252517"/>
            </a:xfrm>
            <a:custGeom>
              <a:avLst/>
              <a:gdLst/>
              <a:ahLst/>
              <a:cxnLst/>
              <a:rect r="r" b="b" t="t" l="l"/>
              <a:pathLst>
                <a:path h="1252517" w="519570">
                  <a:moveTo>
                    <a:pt x="221974" y="0"/>
                  </a:moveTo>
                  <a:lnTo>
                    <a:pt x="297595" y="0"/>
                  </a:lnTo>
                  <a:cubicBezTo>
                    <a:pt x="420188" y="0"/>
                    <a:pt x="519570" y="99381"/>
                    <a:pt x="519570" y="221974"/>
                  </a:cubicBezTo>
                  <a:lnTo>
                    <a:pt x="519570" y="1030543"/>
                  </a:lnTo>
                  <a:cubicBezTo>
                    <a:pt x="519570" y="1153136"/>
                    <a:pt x="420188" y="1252517"/>
                    <a:pt x="297595" y="1252517"/>
                  </a:cubicBezTo>
                  <a:lnTo>
                    <a:pt x="221974" y="1252517"/>
                  </a:lnTo>
                  <a:cubicBezTo>
                    <a:pt x="99381" y="1252517"/>
                    <a:pt x="0" y="1153136"/>
                    <a:pt x="0" y="1030543"/>
                  </a:cubicBezTo>
                  <a:lnTo>
                    <a:pt x="0" y="221974"/>
                  </a:lnTo>
                  <a:cubicBezTo>
                    <a:pt x="0" y="99381"/>
                    <a:pt x="99381" y="0"/>
                    <a:pt x="221974" y="0"/>
                  </a:cubicBezTo>
                  <a:close/>
                </a:path>
              </a:pathLst>
            </a:custGeom>
            <a:solidFill>
              <a:srgbClr val="0044BC">
                <a:alpha val="60000"/>
              </a:srgbClr>
            </a:solidFill>
            <a:ln w="12700">
              <a:solidFill>
                <a:srgbClr val="000000"/>
              </a:solidFill>
            </a:ln>
          </p:spPr>
        </p:sp>
      </p:grpSp>
      <p:grpSp>
        <p:nvGrpSpPr>
          <p:cNvPr name="Group 8" id="8"/>
          <p:cNvGrpSpPr/>
          <p:nvPr/>
        </p:nvGrpSpPr>
        <p:grpSpPr>
          <a:xfrm rot="-10800000">
            <a:off x="-1221525" y="4419861"/>
            <a:ext cx="3487752" cy="8407862"/>
            <a:chOff x="0" y="0"/>
            <a:chExt cx="519570" cy="1252517"/>
          </a:xfrm>
        </p:grpSpPr>
        <p:sp>
          <p:nvSpPr>
            <p:cNvPr name="Freeform 9" id="9"/>
            <p:cNvSpPr/>
            <p:nvPr/>
          </p:nvSpPr>
          <p:spPr>
            <a:xfrm flipH="false" flipV="false" rot="0">
              <a:off x="0" y="0"/>
              <a:ext cx="519570" cy="1252517"/>
            </a:xfrm>
            <a:custGeom>
              <a:avLst/>
              <a:gdLst/>
              <a:ahLst/>
              <a:cxnLst/>
              <a:rect r="r" b="b" t="t" l="l"/>
              <a:pathLst>
                <a:path h="1252517" w="519570">
                  <a:moveTo>
                    <a:pt x="221974" y="0"/>
                  </a:moveTo>
                  <a:lnTo>
                    <a:pt x="297595" y="0"/>
                  </a:lnTo>
                  <a:cubicBezTo>
                    <a:pt x="420188" y="0"/>
                    <a:pt x="519570" y="99381"/>
                    <a:pt x="519570" y="221974"/>
                  </a:cubicBezTo>
                  <a:lnTo>
                    <a:pt x="519570" y="1030543"/>
                  </a:lnTo>
                  <a:cubicBezTo>
                    <a:pt x="519570" y="1153136"/>
                    <a:pt x="420188" y="1252517"/>
                    <a:pt x="297595" y="1252517"/>
                  </a:cubicBezTo>
                  <a:lnTo>
                    <a:pt x="221974" y="1252517"/>
                  </a:lnTo>
                  <a:cubicBezTo>
                    <a:pt x="99381" y="1252517"/>
                    <a:pt x="0" y="1153136"/>
                    <a:pt x="0" y="1030543"/>
                  </a:cubicBezTo>
                  <a:lnTo>
                    <a:pt x="0" y="221974"/>
                  </a:lnTo>
                  <a:cubicBezTo>
                    <a:pt x="0" y="99381"/>
                    <a:pt x="99381" y="0"/>
                    <a:pt x="221974" y="0"/>
                  </a:cubicBezTo>
                  <a:close/>
                </a:path>
              </a:pathLst>
            </a:custGeom>
            <a:solidFill>
              <a:srgbClr val="0044BC">
                <a:alpha val="60000"/>
              </a:srgbClr>
            </a:solidFill>
            <a:ln w="12700">
              <a:solidFill>
                <a:srgbClr val="000000"/>
              </a:solidFill>
            </a:ln>
          </p:spPr>
        </p:sp>
      </p:grpSp>
      <p:grpSp>
        <p:nvGrpSpPr>
          <p:cNvPr name="Group 10" id="10"/>
          <p:cNvGrpSpPr/>
          <p:nvPr/>
        </p:nvGrpSpPr>
        <p:grpSpPr>
          <a:xfrm rot="713487">
            <a:off x="-1543050" y="7200900"/>
            <a:ext cx="3086100" cy="3086100"/>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FFFFF">
                    <a:alpha val="100000"/>
                  </a:srgbClr>
                </a:gs>
                <a:gs pos="100000">
                  <a:srgbClr val="99BEFF">
                    <a:alpha val="100000"/>
                  </a:srgbClr>
                </a:gs>
              </a:gsLst>
              <a:path path="circle">
                <a:fillToRect l="0" r="100000" t="0" b="100000"/>
              </a:path>
              <a:tileRect r="0" l="-100000" b="0" t="-100000"/>
            </a:gradFill>
          </p:spPr>
        </p:sp>
        <p:sp>
          <p:nvSpPr>
            <p:cNvPr name="TextBox 12" id="12"/>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2566108">
            <a:off x="16506507" y="-514350"/>
            <a:ext cx="2961201" cy="2961201"/>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9BEFF">
                    <a:alpha val="100000"/>
                  </a:srgbClr>
                </a:gs>
                <a:gs pos="100000">
                  <a:srgbClr val="FFFFFF">
                    <a:alpha val="100000"/>
                  </a:srgbClr>
                </a:gs>
              </a:gsLst>
              <a:path path="circle">
                <a:fillToRect l="0" r="100000" t="0" b="100000"/>
              </a:path>
              <a:tileRect r="0" l="-100000" b="0" t="-100000"/>
            </a:gradFill>
          </p:spPr>
        </p:sp>
        <p:sp>
          <p:nvSpPr>
            <p:cNvPr name="TextBox 15" id="15"/>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10188442">
            <a:off x="1839726" y="1217249"/>
            <a:ext cx="889590" cy="889590"/>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9BEFF">
                    <a:alpha val="100000"/>
                  </a:srgbClr>
                </a:gs>
                <a:gs pos="100000">
                  <a:srgbClr val="FFFFFF">
                    <a:alpha val="100000"/>
                  </a:srgbClr>
                </a:gs>
              </a:gsLst>
              <a:path path="circle">
                <a:fillToRect l="0" r="100000" t="0" b="100000"/>
              </a:path>
              <a:tileRect r="0" l="-100000" b="0" t="-100000"/>
            </a:gradFill>
          </p:spPr>
        </p:sp>
        <p:sp>
          <p:nvSpPr>
            <p:cNvPr name="TextBox 18" id="18"/>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8855102" y="-1376020"/>
            <a:ext cx="1166346" cy="3319817"/>
            <a:chOff x="0" y="0"/>
            <a:chExt cx="554046" cy="1577001"/>
          </a:xfrm>
        </p:grpSpPr>
        <p:sp>
          <p:nvSpPr>
            <p:cNvPr name="Freeform 20" id="20"/>
            <p:cNvSpPr/>
            <p:nvPr/>
          </p:nvSpPr>
          <p:spPr>
            <a:xfrm flipH="false" flipV="false" rot="0">
              <a:off x="0" y="0"/>
              <a:ext cx="554046" cy="1577001"/>
            </a:xfrm>
            <a:custGeom>
              <a:avLst/>
              <a:gdLst/>
              <a:ahLst/>
              <a:cxnLst/>
              <a:rect r="r" b="b" t="t" l="l"/>
              <a:pathLst>
                <a:path h="1577001" w="554046">
                  <a:moveTo>
                    <a:pt x="184782" y="1557932"/>
                  </a:moveTo>
                  <a:cubicBezTo>
                    <a:pt x="213186" y="1569446"/>
                    <a:pt x="245478" y="1577001"/>
                    <a:pt x="277172" y="1577001"/>
                  </a:cubicBezTo>
                  <a:cubicBezTo>
                    <a:pt x="308867" y="1577001"/>
                    <a:pt x="339365" y="1570524"/>
                    <a:pt x="367470" y="1559010"/>
                  </a:cubicBezTo>
                  <a:cubicBezTo>
                    <a:pt x="368068" y="1558651"/>
                    <a:pt x="368666" y="1558651"/>
                    <a:pt x="369264" y="1558292"/>
                  </a:cubicBezTo>
                  <a:cubicBezTo>
                    <a:pt x="474811" y="1512236"/>
                    <a:pt x="552551" y="1390622"/>
                    <a:pt x="554046" y="1231524"/>
                  </a:cubicBezTo>
                  <a:lnTo>
                    <a:pt x="554046" y="0"/>
                  </a:lnTo>
                  <a:lnTo>
                    <a:pt x="0" y="0"/>
                  </a:lnTo>
                  <a:lnTo>
                    <a:pt x="0" y="1230610"/>
                  </a:lnTo>
                  <a:cubicBezTo>
                    <a:pt x="1495" y="1391341"/>
                    <a:pt x="78039" y="1512956"/>
                    <a:pt x="184782" y="1557932"/>
                  </a:cubicBezTo>
                  <a:close/>
                </a:path>
              </a:pathLst>
            </a:custGeom>
            <a:gradFill rotWithShape="true">
              <a:gsLst>
                <a:gs pos="0">
                  <a:srgbClr val="FFFFFF">
                    <a:alpha val="100000"/>
                  </a:srgbClr>
                </a:gs>
                <a:gs pos="100000">
                  <a:srgbClr val="99BEFF">
                    <a:alpha val="100000"/>
                  </a:srgbClr>
                </a:gs>
              </a:gsLst>
              <a:path path="circle">
                <a:fillToRect l="0" r="100000" t="0" b="100000"/>
              </a:path>
              <a:tileRect r="0" l="-100000" b="0" t="-100000"/>
            </a:gradFill>
          </p:spPr>
        </p:sp>
        <p:sp>
          <p:nvSpPr>
            <p:cNvPr name="TextBox 21" id="21"/>
            <p:cNvSpPr txBox="true"/>
            <p:nvPr/>
          </p:nvSpPr>
          <p:spPr>
            <a:xfrm>
              <a:off x="0" y="-47625"/>
              <a:ext cx="554046" cy="1497626"/>
            </a:xfrm>
            <a:prstGeom prst="rect">
              <a:avLst/>
            </a:prstGeom>
          </p:spPr>
          <p:txBody>
            <a:bodyPr anchor="ctr" rtlCol="false" tIns="50800" lIns="50800" bIns="50800" rIns="50800"/>
            <a:lstStyle/>
            <a:p>
              <a:pPr algn="ctr">
                <a:lnSpc>
                  <a:spcPts val="2659"/>
                </a:lnSpc>
              </a:pPr>
            </a:p>
          </p:txBody>
        </p:sp>
      </p:grpSp>
      <p:grpSp>
        <p:nvGrpSpPr>
          <p:cNvPr name="Group 22" id="22"/>
          <p:cNvGrpSpPr/>
          <p:nvPr/>
        </p:nvGrpSpPr>
        <p:grpSpPr>
          <a:xfrm rot="-10800000">
            <a:off x="17790720" y="6382460"/>
            <a:ext cx="392775" cy="3740767"/>
            <a:chOff x="0" y="0"/>
            <a:chExt cx="554046" cy="5276697"/>
          </a:xfrm>
        </p:grpSpPr>
        <p:sp>
          <p:nvSpPr>
            <p:cNvPr name="Freeform 23" id="23"/>
            <p:cNvSpPr/>
            <p:nvPr/>
          </p:nvSpPr>
          <p:spPr>
            <a:xfrm flipH="false" flipV="false" rot="0">
              <a:off x="0" y="0"/>
              <a:ext cx="554046" cy="5276697"/>
            </a:xfrm>
            <a:custGeom>
              <a:avLst/>
              <a:gdLst/>
              <a:ahLst/>
              <a:cxnLst/>
              <a:rect r="r" b="b" t="t" l="l"/>
              <a:pathLst>
                <a:path h="5276697" w="554046">
                  <a:moveTo>
                    <a:pt x="184782" y="5257628"/>
                  </a:moveTo>
                  <a:cubicBezTo>
                    <a:pt x="213186" y="5269142"/>
                    <a:pt x="245478" y="5276697"/>
                    <a:pt x="277172" y="5276697"/>
                  </a:cubicBezTo>
                  <a:cubicBezTo>
                    <a:pt x="308867" y="5276697"/>
                    <a:pt x="339365" y="5270220"/>
                    <a:pt x="367470" y="5258706"/>
                  </a:cubicBezTo>
                  <a:cubicBezTo>
                    <a:pt x="368068" y="5258346"/>
                    <a:pt x="368666" y="5258346"/>
                    <a:pt x="369264" y="5257987"/>
                  </a:cubicBezTo>
                  <a:cubicBezTo>
                    <a:pt x="474811" y="5211931"/>
                    <a:pt x="552551" y="5090318"/>
                    <a:pt x="554046" y="4849039"/>
                  </a:cubicBezTo>
                  <a:lnTo>
                    <a:pt x="554046" y="0"/>
                  </a:lnTo>
                  <a:lnTo>
                    <a:pt x="0" y="0"/>
                  </a:lnTo>
                  <a:lnTo>
                    <a:pt x="0" y="4845440"/>
                  </a:lnTo>
                  <a:cubicBezTo>
                    <a:pt x="1495" y="5091037"/>
                    <a:pt x="78039" y="5212652"/>
                    <a:pt x="184782" y="5257628"/>
                  </a:cubicBezTo>
                  <a:close/>
                </a:path>
              </a:pathLst>
            </a:custGeom>
            <a:gradFill rotWithShape="true">
              <a:gsLst>
                <a:gs pos="0">
                  <a:srgbClr val="FFFFFF">
                    <a:alpha val="100000"/>
                  </a:srgbClr>
                </a:gs>
                <a:gs pos="100000">
                  <a:srgbClr val="99BEFF">
                    <a:alpha val="100000"/>
                  </a:srgbClr>
                </a:gs>
              </a:gsLst>
              <a:path path="circle">
                <a:fillToRect l="0" r="100000" t="0" b="100000"/>
              </a:path>
              <a:tileRect r="0" l="-100000" b="0" t="-100000"/>
            </a:gradFill>
          </p:spPr>
        </p:sp>
        <p:sp>
          <p:nvSpPr>
            <p:cNvPr name="TextBox 24" id="24"/>
            <p:cNvSpPr txBox="true"/>
            <p:nvPr/>
          </p:nvSpPr>
          <p:spPr>
            <a:xfrm>
              <a:off x="0" y="-47625"/>
              <a:ext cx="554046" cy="5197322"/>
            </a:xfrm>
            <a:prstGeom prst="rect">
              <a:avLst/>
            </a:prstGeom>
          </p:spPr>
          <p:txBody>
            <a:bodyPr anchor="ctr" rtlCol="false" tIns="50800" lIns="50800" bIns="50800" rIns="50800"/>
            <a:lstStyle/>
            <a:p>
              <a:pPr algn="ctr">
                <a:lnSpc>
                  <a:spcPts val="2659"/>
                </a:lnSpc>
              </a:pPr>
            </a:p>
          </p:txBody>
        </p:sp>
      </p:grpSp>
      <p:sp>
        <p:nvSpPr>
          <p:cNvPr name="TextBox 25" id="25"/>
          <p:cNvSpPr txBox="true"/>
          <p:nvPr/>
        </p:nvSpPr>
        <p:spPr>
          <a:xfrm rot="0">
            <a:off x="233454" y="1185650"/>
            <a:ext cx="17243297" cy="1057564"/>
          </a:xfrm>
          <a:prstGeom prst="rect">
            <a:avLst/>
          </a:prstGeom>
        </p:spPr>
        <p:txBody>
          <a:bodyPr anchor="t" rtlCol="false" tIns="0" lIns="0" bIns="0" rIns="0">
            <a:spAutoFit/>
          </a:bodyPr>
          <a:lstStyle/>
          <a:p>
            <a:pPr algn="ctr">
              <a:lnSpc>
                <a:spcPts val="8045"/>
              </a:lnSpc>
            </a:pPr>
            <a:r>
              <a:rPr lang="en-US" b="true" sz="7662">
                <a:solidFill>
                  <a:srgbClr val="0037BC"/>
                </a:solidFill>
                <a:latin typeface="Canva Sans Bold"/>
                <a:ea typeface="Canva Sans Bold"/>
                <a:cs typeface="Canva Sans Bold"/>
                <a:sym typeface="Canva Sans Bold"/>
              </a:rPr>
              <a:t>ABSTRAK</a:t>
            </a:r>
          </a:p>
        </p:txBody>
      </p:sp>
      <p:sp>
        <p:nvSpPr>
          <p:cNvPr name="TextBox 26" id="26"/>
          <p:cNvSpPr txBox="true"/>
          <p:nvPr/>
        </p:nvSpPr>
        <p:spPr>
          <a:xfrm rot="0">
            <a:off x="2513491" y="2315746"/>
            <a:ext cx="13289449" cy="6514985"/>
          </a:xfrm>
          <a:prstGeom prst="rect">
            <a:avLst/>
          </a:prstGeom>
        </p:spPr>
        <p:txBody>
          <a:bodyPr anchor="t" rtlCol="false" tIns="0" lIns="0" bIns="0" rIns="0">
            <a:spAutoFit/>
          </a:bodyPr>
          <a:lstStyle/>
          <a:p>
            <a:pPr algn="just">
              <a:lnSpc>
                <a:spcPts val="3681"/>
              </a:lnSpc>
            </a:pPr>
            <a:r>
              <a:rPr lang="en-US" b="true" sz="2629" spc="-52">
                <a:solidFill>
                  <a:srgbClr val="0037BC"/>
                </a:solidFill>
                <a:latin typeface="Canva Sans Bold"/>
                <a:ea typeface="Canva Sans Bold"/>
                <a:cs typeface="Canva Sans Bold"/>
                <a:sym typeface="Canva Sans Bold"/>
              </a:rPr>
              <a:t>Penelitian ini menganalisis frekuensi kunjungan Perpustakaan GKU 1 ITERA pada hari kerja dan menentukan model distribusi yang paling sesuai. Data menunjukkan overdispersion, sehingga distribusi Poisson dan Binomial tidak relevan. Berdasarkan LRT, AIC, BIC, dan uji Kolmogorov–Smirnov, distribusi Negatif Binomial menjadi model terbaik.</a:t>
            </a:r>
          </a:p>
          <a:p>
            <a:pPr algn="just">
              <a:lnSpc>
                <a:spcPts val="3681"/>
              </a:lnSpc>
            </a:pPr>
          </a:p>
          <a:p>
            <a:pPr algn="just">
              <a:lnSpc>
                <a:spcPts val="3681"/>
              </a:lnSpc>
            </a:pPr>
            <a:r>
              <a:rPr lang="en-US" b="true" sz="2629" spc="-52">
                <a:solidFill>
                  <a:srgbClr val="0037BC"/>
                </a:solidFill>
                <a:latin typeface="Canva Sans Bold"/>
                <a:ea typeface="Canva Sans Bold"/>
                <a:cs typeface="Canva Sans Bold"/>
                <a:sym typeface="Canva Sans Bold"/>
              </a:rPr>
              <a:t>Tiga metode pembangkitan bilangan acak digunakan untuk simulasi, yaitu Inverse Transform, Acceptance-Rejection, dan Direct Simulation. Dari evaluasi sampel besar (n=10.000), metode Inverse Transform menghasilkan rata-rata dan varians paling mendekati data asli, menjadikannya metode paling akurat dan stabil. Secara keseluruhan, distribusi Negatif Binomial dan metode Inverse Transform direkomendasikan sebagai dasar simulasi untuk perencanaan layanan dan estimasi kebutuhan operasional perpustakaan.</a:t>
            </a:r>
          </a:p>
          <a:p>
            <a:pPr algn="just">
              <a:lnSpc>
                <a:spcPts val="3681"/>
              </a:lnSpc>
              <a:spcBef>
                <a:spcPct val="0"/>
              </a:spcBef>
            </a:pPr>
          </a:p>
        </p:txBody>
      </p:sp>
      <p:sp>
        <p:nvSpPr>
          <p:cNvPr name="TextBox 27" id="27"/>
          <p:cNvSpPr txBox="true"/>
          <p:nvPr/>
        </p:nvSpPr>
        <p:spPr>
          <a:xfrm rot="0">
            <a:off x="2605361" y="8543982"/>
            <a:ext cx="13289449" cy="1381010"/>
          </a:xfrm>
          <a:prstGeom prst="rect">
            <a:avLst/>
          </a:prstGeom>
        </p:spPr>
        <p:txBody>
          <a:bodyPr anchor="t" rtlCol="false" tIns="0" lIns="0" bIns="0" rIns="0">
            <a:spAutoFit/>
          </a:bodyPr>
          <a:lstStyle/>
          <a:p>
            <a:pPr algn="just">
              <a:lnSpc>
                <a:spcPts val="3681"/>
              </a:lnSpc>
            </a:pPr>
            <a:r>
              <a:rPr lang="en-US" sz="2629" spc="-52">
                <a:solidFill>
                  <a:srgbClr val="0037BC"/>
                </a:solidFill>
                <a:latin typeface="Canva Sans"/>
                <a:ea typeface="Canva Sans"/>
                <a:cs typeface="Canva Sans"/>
                <a:sym typeface="Canva Sans"/>
              </a:rPr>
              <a:t>Kata Kunci : Pembangkitan bilangan acak; Distribusi Negatif Binomial; Inverse Transform; Acceptance-Rejection; Simulasi statistik.</a:t>
            </a:r>
          </a:p>
          <a:p>
            <a:pPr algn="just">
              <a:lnSpc>
                <a:spcPts val="3681"/>
              </a:lnSpc>
              <a:spcBef>
                <a:spcPct val="0"/>
              </a:spcBef>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86746" y="-1406234"/>
            <a:ext cx="19689922" cy="13118410"/>
          </a:xfrm>
          <a:custGeom>
            <a:avLst/>
            <a:gdLst/>
            <a:ahLst/>
            <a:cxnLst/>
            <a:rect r="r" b="b" t="t" l="l"/>
            <a:pathLst>
              <a:path h="13118410" w="19689922">
                <a:moveTo>
                  <a:pt x="0" y="0"/>
                </a:moveTo>
                <a:lnTo>
                  <a:pt x="19689922" y="0"/>
                </a:lnTo>
                <a:lnTo>
                  <a:pt x="19689922" y="13118410"/>
                </a:lnTo>
                <a:lnTo>
                  <a:pt x="0" y="13118410"/>
                </a:lnTo>
                <a:lnTo>
                  <a:pt x="0" y="0"/>
                </a:lnTo>
                <a:close/>
              </a:path>
            </a:pathLst>
          </a:custGeom>
          <a:blipFill>
            <a:blip r:embed="rId2">
              <a:alphaModFix amt="23000"/>
            </a:blip>
            <a:stretch>
              <a:fillRect l="0" t="0" r="0" b="0"/>
            </a:stretch>
          </a:blipFill>
        </p:spPr>
      </p:sp>
      <p:grpSp>
        <p:nvGrpSpPr>
          <p:cNvPr name="Group 3" id="3"/>
          <p:cNvGrpSpPr/>
          <p:nvPr/>
        </p:nvGrpSpPr>
        <p:grpSpPr>
          <a:xfrm rot="5400000">
            <a:off x="14429996" y="-2445446"/>
            <a:ext cx="1044896" cy="6671112"/>
            <a:chOff x="0" y="0"/>
            <a:chExt cx="660400" cy="4216307"/>
          </a:xfrm>
        </p:grpSpPr>
        <p:sp>
          <p:nvSpPr>
            <p:cNvPr name="Freeform 4" id="4"/>
            <p:cNvSpPr/>
            <p:nvPr/>
          </p:nvSpPr>
          <p:spPr>
            <a:xfrm flipH="false" flipV="false" rot="0">
              <a:off x="0" y="0"/>
              <a:ext cx="660400" cy="4216307"/>
            </a:xfrm>
            <a:custGeom>
              <a:avLst/>
              <a:gdLst/>
              <a:ahLst/>
              <a:cxnLst/>
              <a:rect r="r" b="b" t="t" l="l"/>
              <a:pathLst>
                <a:path h="4216307" w="660400">
                  <a:moveTo>
                    <a:pt x="220252" y="4197238"/>
                  </a:moveTo>
                  <a:cubicBezTo>
                    <a:pt x="254109" y="4208752"/>
                    <a:pt x="292600" y="4216307"/>
                    <a:pt x="330378" y="4216307"/>
                  </a:cubicBezTo>
                  <a:cubicBezTo>
                    <a:pt x="368157" y="4216307"/>
                    <a:pt x="404509" y="4209830"/>
                    <a:pt x="438009" y="4198316"/>
                  </a:cubicBezTo>
                  <a:cubicBezTo>
                    <a:pt x="438723" y="4197957"/>
                    <a:pt x="439435" y="4197957"/>
                    <a:pt x="440148" y="4197597"/>
                  </a:cubicBezTo>
                  <a:cubicBezTo>
                    <a:pt x="565955" y="4151542"/>
                    <a:pt x="658618" y="4029928"/>
                    <a:pt x="660400" y="3812204"/>
                  </a:cubicBezTo>
                  <a:lnTo>
                    <a:pt x="660400" y="0"/>
                  </a:lnTo>
                  <a:lnTo>
                    <a:pt x="0" y="0"/>
                  </a:lnTo>
                  <a:lnTo>
                    <a:pt x="0" y="3809374"/>
                  </a:lnTo>
                  <a:cubicBezTo>
                    <a:pt x="1782" y="4030647"/>
                    <a:pt x="93019" y="4152262"/>
                    <a:pt x="220252" y="4197238"/>
                  </a:cubicBezTo>
                  <a:close/>
                </a:path>
              </a:pathLst>
            </a:custGeom>
            <a:gradFill rotWithShape="true">
              <a:gsLst>
                <a:gs pos="0">
                  <a:srgbClr val="FFFFFF">
                    <a:alpha val="100000"/>
                  </a:srgbClr>
                </a:gs>
                <a:gs pos="100000">
                  <a:srgbClr val="0045BF">
                    <a:alpha val="100000"/>
                  </a:srgbClr>
                </a:gs>
              </a:gsLst>
              <a:lin ang="5400000"/>
            </a:gradFill>
          </p:spPr>
        </p:sp>
        <p:sp>
          <p:nvSpPr>
            <p:cNvPr name="TextBox 5" id="5"/>
            <p:cNvSpPr txBox="true"/>
            <p:nvPr/>
          </p:nvSpPr>
          <p:spPr>
            <a:xfrm>
              <a:off x="0" y="-47625"/>
              <a:ext cx="660400" cy="413693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9450318">
            <a:off x="15425409" y="8123364"/>
            <a:ext cx="3086100" cy="3086100"/>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FFFFF">
                    <a:alpha val="100000"/>
                  </a:srgbClr>
                </a:gs>
                <a:gs pos="100000">
                  <a:srgbClr val="99BEFF">
                    <a:alpha val="100000"/>
                  </a:srgbClr>
                </a:gs>
              </a:gsLst>
              <a:path path="circle">
                <a:fillToRect l="0" r="100000" t="0" b="100000"/>
              </a:path>
              <a:tileRect r="0" l="-100000" b="0" t="-100000"/>
            </a:gradFill>
          </p:spPr>
        </p:sp>
        <p:sp>
          <p:nvSpPr>
            <p:cNvPr name="TextBox 8" id="8"/>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5400000">
            <a:off x="2040622" y="7388381"/>
            <a:ext cx="489538" cy="5307700"/>
            <a:chOff x="0" y="0"/>
            <a:chExt cx="863560" cy="9362947"/>
          </a:xfrm>
        </p:grpSpPr>
        <p:sp>
          <p:nvSpPr>
            <p:cNvPr name="Freeform 10" id="10"/>
            <p:cNvSpPr/>
            <p:nvPr/>
          </p:nvSpPr>
          <p:spPr>
            <a:xfrm flipH="false" flipV="false" rot="0">
              <a:off x="0" y="0"/>
              <a:ext cx="863560" cy="9362947"/>
            </a:xfrm>
            <a:custGeom>
              <a:avLst/>
              <a:gdLst/>
              <a:ahLst/>
              <a:cxnLst/>
              <a:rect r="r" b="b" t="t" l="l"/>
              <a:pathLst>
                <a:path h="9362947" w="863560">
                  <a:moveTo>
                    <a:pt x="288009" y="9343878"/>
                  </a:moveTo>
                  <a:cubicBezTo>
                    <a:pt x="332281" y="9355393"/>
                    <a:pt x="382613" y="9362947"/>
                    <a:pt x="432012" y="9362947"/>
                  </a:cubicBezTo>
                  <a:cubicBezTo>
                    <a:pt x="481413" y="9362947"/>
                    <a:pt x="528949" y="9356471"/>
                    <a:pt x="572754" y="9344957"/>
                  </a:cubicBezTo>
                  <a:cubicBezTo>
                    <a:pt x="573688" y="9344597"/>
                    <a:pt x="574619" y="9344597"/>
                    <a:pt x="575551" y="9344237"/>
                  </a:cubicBezTo>
                  <a:cubicBezTo>
                    <a:pt x="740061" y="9298182"/>
                    <a:pt x="861230" y="9176569"/>
                    <a:pt x="863560" y="8844523"/>
                  </a:cubicBezTo>
                  <a:lnTo>
                    <a:pt x="863560" y="0"/>
                  </a:lnTo>
                  <a:lnTo>
                    <a:pt x="0" y="0"/>
                  </a:lnTo>
                  <a:lnTo>
                    <a:pt x="0" y="8837959"/>
                  </a:lnTo>
                  <a:cubicBezTo>
                    <a:pt x="2330" y="9177287"/>
                    <a:pt x="121635" y="9298902"/>
                    <a:pt x="288009" y="9343878"/>
                  </a:cubicBezTo>
                  <a:close/>
                </a:path>
              </a:pathLst>
            </a:custGeom>
            <a:gradFill rotWithShape="true">
              <a:gsLst>
                <a:gs pos="0">
                  <a:srgbClr val="FFFFFF">
                    <a:alpha val="100000"/>
                  </a:srgbClr>
                </a:gs>
                <a:gs pos="100000">
                  <a:srgbClr val="0045BF">
                    <a:alpha val="100000"/>
                  </a:srgbClr>
                </a:gs>
              </a:gsLst>
              <a:lin ang="5400000"/>
            </a:gradFill>
          </p:spPr>
        </p:sp>
        <p:sp>
          <p:nvSpPr>
            <p:cNvPr name="TextBox 11" id="11"/>
            <p:cNvSpPr txBox="true"/>
            <p:nvPr/>
          </p:nvSpPr>
          <p:spPr>
            <a:xfrm>
              <a:off x="0" y="-47625"/>
              <a:ext cx="863560" cy="9283572"/>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028700" y="638175"/>
            <a:ext cx="7336850" cy="1158241"/>
          </a:xfrm>
          <a:prstGeom prst="rect">
            <a:avLst/>
          </a:prstGeom>
        </p:spPr>
        <p:txBody>
          <a:bodyPr anchor="t" rtlCol="false" tIns="0" lIns="0" bIns="0" rIns="0">
            <a:spAutoFit/>
          </a:bodyPr>
          <a:lstStyle/>
          <a:p>
            <a:pPr algn="l">
              <a:lnSpc>
                <a:spcPts val="10199"/>
              </a:lnSpc>
              <a:spcBef>
                <a:spcPct val="0"/>
              </a:spcBef>
            </a:pPr>
            <a:r>
              <a:rPr lang="en-US" b="true" sz="5099">
                <a:solidFill>
                  <a:srgbClr val="0044BC"/>
                </a:solidFill>
                <a:latin typeface="Canva Sans Bold"/>
                <a:ea typeface="Canva Sans Bold"/>
                <a:cs typeface="Canva Sans Bold"/>
                <a:sym typeface="Canva Sans Bold"/>
              </a:rPr>
              <a:t>PENDAHULUAN </a:t>
            </a:r>
          </a:p>
        </p:txBody>
      </p:sp>
      <p:sp>
        <p:nvSpPr>
          <p:cNvPr name="TextBox 13" id="13"/>
          <p:cNvSpPr txBox="true"/>
          <p:nvPr/>
        </p:nvSpPr>
        <p:spPr>
          <a:xfrm rot="0">
            <a:off x="1028700" y="1763493"/>
            <a:ext cx="7336850" cy="796922"/>
          </a:xfrm>
          <a:prstGeom prst="rect">
            <a:avLst/>
          </a:prstGeom>
        </p:spPr>
        <p:txBody>
          <a:bodyPr anchor="t" rtlCol="false" tIns="0" lIns="0" bIns="0" rIns="0">
            <a:spAutoFit/>
          </a:bodyPr>
          <a:lstStyle/>
          <a:p>
            <a:pPr algn="l">
              <a:lnSpc>
                <a:spcPts val="7000"/>
              </a:lnSpc>
              <a:spcBef>
                <a:spcPct val="0"/>
              </a:spcBef>
            </a:pPr>
            <a:r>
              <a:rPr lang="en-US" b="true" sz="3500">
                <a:solidFill>
                  <a:srgbClr val="0044BC"/>
                </a:solidFill>
                <a:latin typeface="Canva Sans Bold"/>
                <a:ea typeface="Canva Sans Bold"/>
                <a:cs typeface="Canva Sans Bold"/>
                <a:sym typeface="Canva Sans Bold"/>
              </a:rPr>
              <a:t>Latar Belakang</a:t>
            </a:r>
          </a:p>
        </p:txBody>
      </p:sp>
      <p:sp>
        <p:nvSpPr>
          <p:cNvPr name="TextBox 14" id="14"/>
          <p:cNvSpPr txBox="true"/>
          <p:nvPr/>
        </p:nvSpPr>
        <p:spPr>
          <a:xfrm rot="0">
            <a:off x="1028700" y="2626376"/>
            <a:ext cx="7336850" cy="2896091"/>
          </a:xfrm>
          <a:prstGeom prst="rect">
            <a:avLst/>
          </a:prstGeom>
        </p:spPr>
        <p:txBody>
          <a:bodyPr anchor="t" rtlCol="false" tIns="0" lIns="0" bIns="0" rIns="0">
            <a:spAutoFit/>
          </a:bodyPr>
          <a:lstStyle/>
          <a:p>
            <a:pPr algn="just">
              <a:lnSpc>
                <a:spcPts val="2597"/>
              </a:lnSpc>
              <a:spcBef>
                <a:spcPct val="0"/>
              </a:spcBef>
            </a:pPr>
            <a:r>
              <a:rPr lang="en-US" sz="1855">
                <a:solidFill>
                  <a:srgbClr val="0B2343"/>
                </a:solidFill>
                <a:latin typeface="Canva Sans"/>
                <a:ea typeface="Canva Sans"/>
                <a:cs typeface="Canva Sans"/>
                <a:sym typeface="Canva Sans"/>
              </a:rPr>
              <a:t>Fluktuasi kunjungan di Perpustakaan GKU 1 ITERA, yang dipengaruhi aktivitas perkuliahan, memerlukan analisis pola data demi optimalisasi layanan. Analisis dilakukan menggunakan pendekatan statistik terhadap data diskrit frekuensi kunjungan harian. Pengujian akurasi model melalui simulasi Pembangkitan Bilangan Acak (PBA) dengan membandingkan tiga teknik simulasi, Inverse Transform, Acceptance-Rejection, dan Direct Simulation yang divalidasi berdasarkan kedekatan nilai Mean dan Varians simulasi terhadap data asli.</a:t>
            </a:r>
          </a:p>
        </p:txBody>
      </p:sp>
      <p:sp>
        <p:nvSpPr>
          <p:cNvPr name="TextBox 15" id="15"/>
          <p:cNvSpPr txBox="true"/>
          <p:nvPr/>
        </p:nvSpPr>
        <p:spPr>
          <a:xfrm rot="0">
            <a:off x="685293" y="6002702"/>
            <a:ext cx="7680256" cy="3699510"/>
          </a:xfrm>
          <a:prstGeom prst="rect">
            <a:avLst/>
          </a:prstGeom>
        </p:spPr>
        <p:txBody>
          <a:bodyPr anchor="t" rtlCol="false" tIns="0" lIns="0" bIns="0" rIns="0">
            <a:spAutoFit/>
          </a:bodyPr>
          <a:lstStyle/>
          <a:p>
            <a:pPr algn="just" marL="453390" indent="-226695" lvl="1">
              <a:lnSpc>
                <a:spcPts val="2940"/>
              </a:lnSpc>
              <a:buAutoNum type="arabicPeriod" startAt="1"/>
            </a:pPr>
            <a:r>
              <a:rPr lang="en-US" sz="2100">
                <a:solidFill>
                  <a:srgbClr val="0B2343"/>
                </a:solidFill>
                <a:latin typeface="Canva Sans"/>
                <a:ea typeface="Canva Sans"/>
                <a:cs typeface="Canva Sans"/>
                <a:sym typeface="Canva Sans"/>
              </a:rPr>
              <a:t>Apa karakteristik statistik dari frekuensi pengunjung Perpustakaan GKU 1 ITERA, khususnya indikasi overdispersion? </a:t>
            </a:r>
          </a:p>
          <a:p>
            <a:pPr algn="just" marL="453390" indent="-226695" lvl="1">
              <a:lnSpc>
                <a:spcPts val="2940"/>
              </a:lnSpc>
              <a:buAutoNum type="arabicPeriod" startAt="1"/>
            </a:pPr>
            <a:r>
              <a:rPr lang="en-US" sz="2100">
                <a:solidFill>
                  <a:srgbClr val="0B2343"/>
                </a:solidFill>
                <a:latin typeface="Canva Sans"/>
                <a:ea typeface="Canva Sans"/>
                <a:cs typeface="Canva Sans"/>
                <a:sym typeface="Canva Sans"/>
              </a:rPr>
              <a:t>Bagaimana implementasi algoritma Inverse Transform, Acceptance-Rejection, dan Direct Simulation dalam membangkitkan bilangan acak berdasarkan model Negatif Binomial? </a:t>
            </a:r>
          </a:p>
          <a:p>
            <a:pPr algn="just" marL="453390" indent="-226695" lvl="1">
              <a:lnSpc>
                <a:spcPts val="2940"/>
              </a:lnSpc>
              <a:buAutoNum type="arabicPeriod" startAt="1"/>
            </a:pPr>
            <a:r>
              <a:rPr lang="en-US" sz="2100">
                <a:solidFill>
                  <a:srgbClr val="0B2343"/>
                </a:solidFill>
                <a:latin typeface="Canva Sans"/>
                <a:ea typeface="Canva Sans"/>
                <a:cs typeface="Canva Sans"/>
                <a:sym typeface="Canva Sans"/>
              </a:rPr>
              <a:t>Metode pembangkitan bilangan acak manakah yang menunjukkan performa terbaik dari segi akurasi dan efisiensi komputasi untuk kasus ini? </a:t>
            </a:r>
          </a:p>
        </p:txBody>
      </p:sp>
      <p:sp>
        <p:nvSpPr>
          <p:cNvPr name="TextBox 16" id="16"/>
          <p:cNvSpPr txBox="true"/>
          <p:nvPr/>
        </p:nvSpPr>
        <p:spPr>
          <a:xfrm rot="0">
            <a:off x="1028700" y="5312917"/>
            <a:ext cx="7336850" cy="796922"/>
          </a:xfrm>
          <a:prstGeom prst="rect">
            <a:avLst/>
          </a:prstGeom>
        </p:spPr>
        <p:txBody>
          <a:bodyPr anchor="t" rtlCol="false" tIns="0" lIns="0" bIns="0" rIns="0">
            <a:spAutoFit/>
          </a:bodyPr>
          <a:lstStyle/>
          <a:p>
            <a:pPr algn="l">
              <a:lnSpc>
                <a:spcPts val="7000"/>
              </a:lnSpc>
              <a:spcBef>
                <a:spcPct val="0"/>
              </a:spcBef>
            </a:pPr>
            <a:r>
              <a:rPr lang="en-US" b="true" sz="3500">
                <a:solidFill>
                  <a:srgbClr val="0044BC"/>
                </a:solidFill>
                <a:latin typeface="Canva Sans Bold"/>
                <a:ea typeface="Canva Sans Bold"/>
                <a:cs typeface="Canva Sans Bold"/>
                <a:sym typeface="Canva Sans Bold"/>
              </a:rPr>
              <a:t>Rumusan Masalah </a:t>
            </a:r>
          </a:p>
        </p:txBody>
      </p:sp>
      <p:sp>
        <p:nvSpPr>
          <p:cNvPr name="TextBox 17" id="17"/>
          <p:cNvSpPr txBox="true"/>
          <p:nvPr/>
        </p:nvSpPr>
        <p:spPr>
          <a:xfrm rot="0">
            <a:off x="9144000" y="5638357"/>
            <a:ext cx="7336850" cy="796922"/>
          </a:xfrm>
          <a:prstGeom prst="rect">
            <a:avLst/>
          </a:prstGeom>
        </p:spPr>
        <p:txBody>
          <a:bodyPr anchor="t" rtlCol="false" tIns="0" lIns="0" bIns="0" rIns="0">
            <a:spAutoFit/>
          </a:bodyPr>
          <a:lstStyle/>
          <a:p>
            <a:pPr algn="l">
              <a:lnSpc>
                <a:spcPts val="7000"/>
              </a:lnSpc>
              <a:spcBef>
                <a:spcPct val="0"/>
              </a:spcBef>
            </a:pPr>
            <a:r>
              <a:rPr lang="en-US" b="true" sz="3500">
                <a:solidFill>
                  <a:srgbClr val="0044BC"/>
                </a:solidFill>
                <a:latin typeface="Canva Sans Bold"/>
                <a:ea typeface="Canva Sans Bold"/>
                <a:cs typeface="Canva Sans Bold"/>
                <a:sym typeface="Canva Sans Bold"/>
              </a:rPr>
              <a:t>Tujuan Penelitian </a:t>
            </a:r>
          </a:p>
        </p:txBody>
      </p:sp>
      <p:sp>
        <p:nvSpPr>
          <p:cNvPr name="TextBox 18" id="18"/>
          <p:cNvSpPr txBox="true"/>
          <p:nvPr/>
        </p:nvSpPr>
        <p:spPr>
          <a:xfrm rot="0">
            <a:off x="9158215" y="1763493"/>
            <a:ext cx="7336850" cy="796922"/>
          </a:xfrm>
          <a:prstGeom prst="rect">
            <a:avLst/>
          </a:prstGeom>
        </p:spPr>
        <p:txBody>
          <a:bodyPr anchor="t" rtlCol="false" tIns="0" lIns="0" bIns="0" rIns="0">
            <a:spAutoFit/>
          </a:bodyPr>
          <a:lstStyle/>
          <a:p>
            <a:pPr algn="l">
              <a:lnSpc>
                <a:spcPts val="7000"/>
              </a:lnSpc>
              <a:spcBef>
                <a:spcPct val="0"/>
              </a:spcBef>
            </a:pPr>
            <a:r>
              <a:rPr lang="en-US" b="true" sz="3500">
                <a:solidFill>
                  <a:srgbClr val="0044BC"/>
                </a:solidFill>
                <a:latin typeface="Canva Sans Bold"/>
                <a:ea typeface="Canva Sans Bold"/>
                <a:cs typeface="Canva Sans Bold"/>
                <a:sym typeface="Canva Sans Bold"/>
              </a:rPr>
              <a:t>Manfaat Penelitian</a:t>
            </a:r>
          </a:p>
        </p:txBody>
      </p:sp>
      <p:sp>
        <p:nvSpPr>
          <p:cNvPr name="TextBox 19" id="19"/>
          <p:cNvSpPr txBox="true"/>
          <p:nvPr/>
        </p:nvSpPr>
        <p:spPr>
          <a:xfrm rot="0">
            <a:off x="9158215" y="6559915"/>
            <a:ext cx="8705985" cy="3328035"/>
          </a:xfrm>
          <a:prstGeom prst="rect">
            <a:avLst/>
          </a:prstGeom>
        </p:spPr>
        <p:txBody>
          <a:bodyPr anchor="t" rtlCol="false" tIns="0" lIns="0" bIns="0" rIns="0">
            <a:spAutoFit/>
          </a:bodyPr>
          <a:lstStyle/>
          <a:p>
            <a:pPr algn="just" marL="453390" indent="-226695" lvl="1">
              <a:lnSpc>
                <a:spcPts val="2940"/>
              </a:lnSpc>
              <a:buAutoNum type="arabicPeriod" startAt="1"/>
            </a:pPr>
            <a:r>
              <a:rPr lang="en-US" sz="2100">
                <a:solidFill>
                  <a:srgbClr val="0B2343"/>
                </a:solidFill>
                <a:latin typeface="Canva Sans"/>
                <a:ea typeface="Canva Sans"/>
                <a:cs typeface="Canva Sans"/>
                <a:sym typeface="Canva Sans"/>
              </a:rPr>
              <a:t>Menganalisis karakteristik statistik data kunjungan Perpustakaan GKU 1 ITERA untuk mengkonfirmasi gejala overdispersion.</a:t>
            </a:r>
          </a:p>
          <a:p>
            <a:pPr algn="just" marL="453390" indent="-226695" lvl="1">
              <a:lnSpc>
                <a:spcPts val="2940"/>
              </a:lnSpc>
              <a:buAutoNum type="arabicPeriod" startAt="1"/>
            </a:pPr>
            <a:r>
              <a:rPr lang="en-US" sz="2100">
                <a:solidFill>
                  <a:srgbClr val="0B2343"/>
                </a:solidFill>
                <a:latin typeface="Canva Sans"/>
                <a:ea typeface="Canva Sans"/>
                <a:cs typeface="Canva Sans"/>
                <a:sym typeface="Canva Sans"/>
              </a:rPr>
              <a:t>Membangun model simulasi pembangkitan bilangan acak menggunakan Distribusi Negatif Binomial dengan menerapkan tiga teknik: Inverse Transform, Acceptance-Rejection, dan Direct Simulation.</a:t>
            </a:r>
          </a:p>
          <a:p>
            <a:pPr algn="just" marL="453390" indent="-226695" lvl="1">
              <a:lnSpc>
                <a:spcPts val="2940"/>
              </a:lnSpc>
              <a:buAutoNum type="arabicPeriod" startAt="1"/>
            </a:pPr>
            <a:r>
              <a:rPr lang="en-US" sz="2100">
                <a:solidFill>
                  <a:srgbClr val="0B2343"/>
                </a:solidFill>
                <a:latin typeface="Canva Sans"/>
                <a:ea typeface="Canva Sans"/>
                <a:cs typeface="Canva Sans"/>
                <a:sym typeface="Canva Sans"/>
              </a:rPr>
              <a:t>Mengevaluasi dan membandingkan kinerja ketiga metode tersebut untuk menentukan algoritma yang paling optimal dalam mereplikasi pola data riil</a:t>
            </a:r>
          </a:p>
        </p:txBody>
      </p:sp>
      <p:sp>
        <p:nvSpPr>
          <p:cNvPr name="TextBox 20" id="20"/>
          <p:cNvSpPr txBox="true"/>
          <p:nvPr/>
        </p:nvSpPr>
        <p:spPr>
          <a:xfrm rot="0">
            <a:off x="9158215" y="2758265"/>
            <a:ext cx="8101085" cy="2956560"/>
          </a:xfrm>
          <a:prstGeom prst="rect">
            <a:avLst/>
          </a:prstGeom>
        </p:spPr>
        <p:txBody>
          <a:bodyPr anchor="t" rtlCol="false" tIns="0" lIns="0" bIns="0" rIns="0">
            <a:spAutoFit/>
          </a:bodyPr>
          <a:lstStyle/>
          <a:p>
            <a:pPr algn="just" marL="453390" indent="-226695" lvl="1">
              <a:lnSpc>
                <a:spcPts val="2940"/>
              </a:lnSpc>
              <a:buAutoNum type="arabicPeriod" startAt="1"/>
            </a:pPr>
            <a:r>
              <a:rPr lang="en-US" sz="2100">
                <a:solidFill>
                  <a:srgbClr val="0B2343"/>
                </a:solidFill>
                <a:latin typeface="Canva Sans"/>
                <a:ea typeface="Canva Sans"/>
                <a:cs typeface="Canva Sans"/>
                <a:sym typeface="Canva Sans"/>
              </a:rPr>
              <a:t>​Bagi Penulis: </a:t>
            </a:r>
            <a:r>
              <a:rPr lang="en-US" sz="2100">
                <a:solidFill>
                  <a:srgbClr val="0B2343"/>
                </a:solidFill>
                <a:latin typeface="Canva Sans"/>
                <a:ea typeface="Canva Sans"/>
                <a:cs typeface="Canva Sans"/>
                <a:sym typeface="Canva Sans"/>
              </a:rPr>
              <a:t>Memberikan pengalaman penerapan teori peluang, statistik, dan simulasi random number generation secara nyata.</a:t>
            </a:r>
          </a:p>
          <a:p>
            <a:pPr algn="just" marL="453390" indent="-226695" lvl="1">
              <a:lnSpc>
                <a:spcPts val="2940"/>
              </a:lnSpc>
              <a:buAutoNum type="arabicPeriod" startAt="1"/>
            </a:pPr>
            <a:r>
              <a:rPr lang="en-US" sz="2100">
                <a:solidFill>
                  <a:srgbClr val="0B2343"/>
                </a:solidFill>
                <a:latin typeface="Canva Sans"/>
                <a:ea typeface="Canva Sans"/>
                <a:cs typeface="Canva Sans"/>
                <a:sym typeface="Canva Sans"/>
              </a:rPr>
              <a:t>​Bagi Instansi (Perpustakaan ITERA): Menyediakan analisis data kunjungan sebagai dasar pengelolaan kapasitas dan operasional.</a:t>
            </a:r>
          </a:p>
          <a:p>
            <a:pPr algn="just" marL="453390" indent="-226695" lvl="1">
              <a:lnSpc>
                <a:spcPts val="2940"/>
              </a:lnSpc>
              <a:buAutoNum type="arabicPeriod" startAt="1"/>
            </a:pPr>
            <a:r>
              <a:rPr lang="en-US" sz="2100">
                <a:solidFill>
                  <a:srgbClr val="0B2343"/>
                </a:solidFill>
                <a:latin typeface="Canva Sans"/>
                <a:ea typeface="Canva Sans"/>
                <a:cs typeface="Canva Sans"/>
                <a:sym typeface="Canva Sans"/>
              </a:rPr>
              <a:t>​Bagi Akademisi: Menjadi contoh studi kasus distribusi probabilitas sebagai referensi penelitian selanjutnya.</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59433" y="-1914309"/>
            <a:ext cx="19689922" cy="13118410"/>
          </a:xfrm>
          <a:custGeom>
            <a:avLst/>
            <a:gdLst/>
            <a:ahLst/>
            <a:cxnLst/>
            <a:rect r="r" b="b" t="t" l="l"/>
            <a:pathLst>
              <a:path h="13118410" w="19689922">
                <a:moveTo>
                  <a:pt x="0" y="0"/>
                </a:moveTo>
                <a:lnTo>
                  <a:pt x="19689922" y="0"/>
                </a:lnTo>
                <a:lnTo>
                  <a:pt x="19689922" y="13118410"/>
                </a:lnTo>
                <a:lnTo>
                  <a:pt x="0" y="13118410"/>
                </a:lnTo>
                <a:lnTo>
                  <a:pt x="0" y="0"/>
                </a:lnTo>
                <a:close/>
              </a:path>
            </a:pathLst>
          </a:custGeom>
          <a:blipFill>
            <a:blip r:embed="rId2">
              <a:alphaModFix amt="23000"/>
            </a:blip>
            <a:stretch>
              <a:fillRect l="0" t="0" r="0" b="0"/>
            </a:stretch>
          </a:blipFill>
        </p:spPr>
      </p:sp>
      <p:grpSp>
        <p:nvGrpSpPr>
          <p:cNvPr name="Group 3" id="3"/>
          <p:cNvGrpSpPr/>
          <p:nvPr/>
        </p:nvGrpSpPr>
        <p:grpSpPr>
          <a:xfrm rot="0">
            <a:off x="-2735934" y="2672844"/>
            <a:ext cx="11879934" cy="4941311"/>
            <a:chOff x="0" y="0"/>
            <a:chExt cx="977070" cy="406400"/>
          </a:xfrm>
        </p:grpSpPr>
        <p:sp>
          <p:nvSpPr>
            <p:cNvPr name="Freeform 4" id="4"/>
            <p:cNvSpPr/>
            <p:nvPr/>
          </p:nvSpPr>
          <p:spPr>
            <a:xfrm flipH="false" flipV="false" rot="0">
              <a:off x="0" y="0"/>
              <a:ext cx="977070" cy="406400"/>
            </a:xfrm>
            <a:custGeom>
              <a:avLst/>
              <a:gdLst/>
              <a:ahLst/>
              <a:cxnLst/>
              <a:rect r="r" b="b" t="t" l="l"/>
              <a:pathLst>
                <a:path h="406400" w="977070">
                  <a:moveTo>
                    <a:pt x="773870" y="0"/>
                  </a:moveTo>
                  <a:cubicBezTo>
                    <a:pt x="886100" y="0"/>
                    <a:pt x="977070" y="90970"/>
                    <a:pt x="977070" y="203200"/>
                  </a:cubicBezTo>
                  <a:cubicBezTo>
                    <a:pt x="977070" y="315430"/>
                    <a:pt x="886100" y="406400"/>
                    <a:pt x="773870" y="406400"/>
                  </a:cubicBezTo>
                  <a:lnTo>
                    <a:pt x="203200" y="406400"/>
                  </a:lnTo>
                  <a:cubicBezTo>
                    <a:pt x="90970" y="406400"/>
                    <a:pt x="0" y="315430"/>
                    <a:pt x="0" y="203200"/>
                  </a:cubicBezTo>
                  <a:cubicBezTo>
                    <a:pt x="0" y="90970"/>
                    <a:pt x="90970" y="0"/>
                    <a:pt x="203200" y="0"/>
                  </a:cubicBezTo>
                  <a:lnTo>
                    <a:pt x="773870" y="0"/>
                  </a:lnTo>
                </a:path>
              </a:pathLst>
            </a:custGeom>
            <a:blipFill>
              <a:blip r:embed="rId3"/>
              <a:stretch>
                <a:fillRect l="0" t="-13410" r="0" b="-13410"/>
              </a:stretch>
            </a:blipFill>
          </p:spPr>
        </p:sp>
      </p:grpSp>
      <p:grpSp>
        <p:nvGrpSpPr>
          <p:cNvPr name="Group 5" id="5"/>
          <p:cNvGrpSpPr/>
          <p:nvPr/>
        </p:nvGrpSpPr>
        <p:grpSpPr>
          <a:xfrm rot="-5400000">
            <a:off x="-259433" y="8195181"/>
            <a:ext cx="3463466" cy="3463466"/>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FFFFF">
                    <a:alpha val="100000"/>
                  </a:srgbClr>
                </a:gs>
                <a:gs pos="100000">
                  <a:srgbClr val="99BEFF">
                    <a:alpha val="100000"/>
                  </a:srgbClr>
                </a:gs>
              </a:gsLst>
              <a:path path="circle">
                <a:fillToRect l="0" r="100000" t="0" b="100000"/>
              </a:path>
              <a:tileRect r="0" l="-100000" b="0" t="-100000"/>
            </a:gradFill>
          </p:spPr>
        </p:sp>
        <p:sp>
          <p:nvSpPr>
            <p:cNvPr name="TextBox 7" id="7"/>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5400000">
            <a:off x="15446965" y="-2237127"/>
            <a:ext cx="374370" cy="5307700"/>
            <a:chOff x="0" y="0"/>
            <a:chExt cx="660400" cy="9362947"/>
          </a:xfrm>
        </p:grpSpPr>
        <p:sp>
          <p:nvSpPr>
            <p:cNvPr name="Freeform 9" id="9"/>
            <p:cNvSpPr/>
            <p:nvPr/>
          </p:nvSpPr>
          <p:spPr>
            <a:xfrm flipH="false" flipV="false" rot="0">
              <a:off x="0" y="0"/>
              <a:ext cx="660400" cy="9362947"/>
            </a:xfrm>
            <a:custGeom>
              <a:avLst/>
              <a:gdLst/>
              <a:ahLst/>
              <a:cxnLst/>
              <a:rect r="r" b="b" t="t" l="l"/>
              <a:pathLst>
                <a:path h="9362947" w="660400">
                  <a:moveTo>
                    <a:pt x="220252" y="9343878"/>
                  </a:moveTo>
                  <a:cubicBezTo>
                    <a:pt x="254109" y="9355393"/>
                    <a:pt x="292600" y="9362947"/>
                    <a:pt x="330378" y="9362947"/>
                  </a:cubicBezTo>
                  <a:cubicBezTo>
                    <a:pt x="368157" y="9362947"/>
                    <a:pt x="404509" y="9356471"/>
                    <a:pt x="438009" y="9344957"/>
                  </a:cubicBezTo>
                  <a:cubicBezTo>
                    <a:pt x="438723" y="9344597"/>
                    <a:pt x="439435" y="9344597"/>
                    <a:pt x="440148" y="9344237"/>
                  </a:cubicBezTo>
                  <a:cubicBezTo>
                    <a:pt x="565955" y="9298182"/>
                    <a:pt x="658618" y="9176569"/>
                    <a:pt x="660400" y="8844523"/>
                  </a:cubicBezTo>
                  <a:lnTo>
                    <a:pt x="660400" y="0"/>
                  </a:lnTo>
                  <a:lnTo>
                    <a:pt x="0" y="0"/>
                  </a:lnTo>
                  <a:lnTo>
                    <a:pt x="0" y="8837959"/>
                  </a:lnTo>
                  <a:cubicBezTo>
                    <a:pt x="1782" y="9177287"/>
                    <a:pt x="93019" y="9298902"/>
                    <a:pt x="220252" y="9343878"/>
                  </a:cubicBezTo>
                  <a:close/>
                </a:path>
              </a:pathLst>
            </a:custGeom>
            <a:gradFill rotWithShape="true">
              <a:gsLst>
                <a:gs pos="0">
                  <a:srgbClr val="FFFFFF">
                    <a:alpha val="100000"/>
                  </a:srgbClr>
                </a:gs>
                <a:gs pos="100000">
                  <a:srgbClr val="0045BF">
                    <a:alpha val="100000"/>
                  </a:srgbClr>
                </a:gs>
              </a:gsLst>
              <a:lin ang="5400000"/>
            </a:gradFill>
          </p:spPr>
        </p:sp>
        <p:sp>
          <p:nvSpPr>
            <p:cNvPr name="TextBox 10" id="10"/>
            <p:cNvSpPr txBox="true"/>
            <p:nvPr/>
          </p:nvSpPr>
          <p:spPr>
            <a:xfrm>
              <a:off x="0" y="-47625"/>
              <a:ext cx="660400" cy="9283572"/>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1028700" y="495300"/>
            <a:ext cx="10726524" cy="1593852"/>
          </a:xfrm>
          <a:prstGeom prst="rect">
            <a:avLst/>
          </a:prstGeom>
        </p:spPr>
        <p:txBody>
          <a:bodyPr anchor="t" rtlCol="false" tIns="0" lIns="0" bIns="0" rIns="0">
            <a:spAutoFit/>
          </a:bodyPr>
          <a:lstStyle/>
          <a:p>
            <a:pPr algn="l">
              <a:lnSpc>
                <a:spcPts val="13999"/>
              </a:lnSpc>
              <a:spcBef>
                <a:spcPct val="0"/>
              </a:spcBef>
            </a:pPr>
            <a:r>
              <a:rPr lang="en-US" b="true" sz="6999">
                <a:solidFill>
                  <a:srgbClr val="0037BC"/>
                </a:solidFill>
                <a:latin typeface="Canva Sans Bold"/>
                <a:ea typeface="Canva Sans Bold"/>
                <a:cs typeface="Canva Sans Bold"/>
                <a:sym typeface="Canva Sans Bold"/>
              </a:rPr>
              <a:t>Tinjauan Pustaka </a:t>
            </a:r>
          </a:p>
        </p:txBody>
      </p:sp>
      <p:sp>
        <p:nvSpPr>
          <p:cNvPr name="TextBox 12" id="12"/>
          <p:cNvSpPr txBox="true"/>
          <p:nvPr/>
        </p:nvSpPr>
        <p:spPr>
          <a:xfrm rot="0">
            <a:off x="10034797" y="962025"/>
            <a:ext cx="7224503" cy="849501"/>
          </a:xfrm>
          <a:prstGeom prst="rect">
            <a:avLst/>
          </a:prstGeom>
        </p:spPr>
        <p:txBody>
          <a:bodyPr anchor="t" rtlCol="false" tIns="0" lIns="0" bIns="0" rIns="0">
            <a:spAutoFit/>
          </a:bodyPr>
          <a:lstStyle/>
          <a:p>
            <a:pPr algn="l">
              <a:lnSpc>
                <a:spcPts val="3496"/>
              </a:lnSpc>
            </a:pPr>
            <a:r>
              <a:rPr lang="en-US" sz="2300" b="true">
                <a:solidFill>
                  <a:srgbClr val="0037BC"/>
                </a:solidFill>
                <a:latin typeface="Canva Sans Bold"/>
                <a:ea typeface="Canva Sans Bold"/>
                <a:cs typeface="Canva Sans Bold"/>
                <a:sym typeface="Canva Sans Bold"/>
              </a:rPr>
              <a:t>Metode Transformasi Invers (Inverse Transform Method)</a:t>
            </a:r>
          </a:p>
        </p:txBody>
      </p:sp>
      <p:sp>
        <p:nvSpPr>
          <p:cNvPr name="TextBox 13" id="13"/>
          <p:cNvSpPr txBox="true"/>
          <p:nvPr/>
        </p:nvSpPr>
        <p:spPr>
          <a:xfrm rot="0">
            <a:off x="10034797" y="1773426"/>
            <a:ext cx="7224503" cy="1934845"/>
          </a:xfrm>
          <a:prstGeom prst="rect">
            <a:avLst/>
          </a:prstGeom>
        </p:spPr>
        <p:txBody>
          <a:bodyPr anchor="t" rtlCol="false" tIns="0" lIns="0" bIns="0" rIns="0">
            <a:spAutoFit/>
          </a:bodyPr>
          <a:lstStyle/>
          <a:p>
            <a:pPr algn="just">
              <a:lnSpc>
                <a:spcPts val="3079"/>
              </a:lnSpc>
              <a:spcBef>
                <a:spcPct val="0"/>
              </a:spcBef>
            </a:pPr>
            <a:r>
              <a:rPr lang="en-US" sz="2199">
                <a:solidFill>
                  <a:srgbClr val="0B2343"/>
                </a:solidFill>
                <a:latin typeface="Canva Sans"/>
                <a:ea typeface="Canva Sans"/>
                <a:cs typeface="Canva Sans"/>
                <a:sym typeface="Canva Sans"/>
              </a:rPr>
              <a:t>Merujuk pada Kroese et al. (2024), karena invers CDF Negatif Binomial tidak memiliki bentuk tertutup (closed-form), algoritma ini menerapkan pencarian sekuensial (sequential search) yang mengakumulasikan nilai probabilitas secara bertahap. </a:t>
            </a:r>
          </a:p>
        </p:txBody>
      </p:sp>
      <p:sp>
        <p:nvSpPr>
          <p:cNvPr name="TextBox 14" id="14"/>
          <p:cNvSpPr txBox="true"/>
          <p:nvPr/>
        </p:nvSpPr>
        <p:spPr>
          <a:xfrm rot="0">
            <a:off x="10034797" y="4571665"/>
            <a:ext cx="7224503" cy="2325370"/>
          </a:xfrm>
          <a:prstGeom prst="rect">
            <a:avLst/>
          </a:prstGeom>
        </p:spPr>
        <p:txBody>
          <a:bodyPr anchor="t" rtlCol="false" tIns="0" lIns="0" bIns="0" rIns="0">
            <a:spAutoFit/>
          </a:bodyPr>
          <a:lstStyle/>
          <a:p>
            <a:pPr algn="just">
              <a:lnSpc>
                <a:spcPts val="3079"/>
              </a:lnSpc>
              <a:spcBef>
                <a:spcPct val="0"/>
              </a:spcBef>
            </a:pPr>
            <a:r>
              <a:rPr lang="en-US" sz="2199">
                <a:solidFill>
                  <a:srgbClr val="0B2343"/>
                </a:solidFill>
                <a:latin typeface="Canva Sans"/>
                <a:ea typeface="Canva Sans"/>
                <a:cs typeface="Canva Sans"/>
                <a:sym typeface="Canva Sans"/>
              </a:rPr>
              <a:t>Prinsip dasar metode ini, sebagaimana dijelaskan oleh Cohen dan Cohen (2021), adalah membangkitkan bilangan acak dari distribusi pembantu yang disebut sebagai distribusi proposal (proposal distribution) , yang memiliki bentuk fungsi densitas lebih sederhana dan mudah dibangkitkan. </a:t>
            </a:r>
          </a:p>
        </p:txBody>
      </p:sp>
      <p:sp>
        <p:nvSpPr>
          <p:cNvPr name="TextBox 15" id="15"/>
          <p:cNvSpPr txBox="true"/>
          <p:nvPr/>
        </p:nvSpPr>
        <p:spPr>
          <a:xfrm rot="0">
            <a:off x="10034797" y="7737011"/>
            <a:ext cx="7224503" cy="1934845"/>
          </a:xfrm>
          <a:prstGeom prst="rect">
            <a:avLst/>
          </a:prstGeom>
        </p:spPr>
        <p:txBody>
          <a:bodyPr anchor="t" rtlCol="false" tIns="0" lIns="0" bIns="0" rIns="0">
            <a:spAutoFit/>
          </a:bodyPr>
          <a:lstStyle/>
          <a:p>
            <a:pPr algn="just">
              <a:lnSpc>
                <a:spcPts val="3079"/>
              </a:lnSpc>
              <a:spcBef>
                <a:spcPct val="0"/>
              </a:spcBef>
            </a:pPr>
            <a:r>
              <a:rPr lang="en-US" sz="2199">
                <a:solidFill>
                  <a:srgbClr val="0B2343"/>
                </a:solidFill>
                <a:latin typeface="Canva Sans"/>
                <a:ea typeface="Canva Sans"/>
                <a:cs typeface="Canva Sans"/>
                <a:sym typeface="Canva Sans"/>
              </a:rPr>
              <a:t>Pada kasus distribusi Negatif Binomial, metode ini didasarkan pada definisi distribusi sebagai jumlah kegagalan yang terjadi sebelum tercapainya sejumlah r kesuksesan dalam rangkaian percobaan Bernoulli yang saling bebas. </a:t>
            </a:r>
          </a:p>
        </p:txBody>
      </p:sp>
      <p:sp>
        <p:nvSpPr>
          <p:cNvPr name="TextBox 16" id="16"/>
          <p:cNvSpPr txBox="true"/>
          <p:nvPr/>
        </p:nvSpPr>
        <p:spPr>
          <a:xfrm rot="0">
            <a:off x="10034797" y="3712639"/>
            <a:ext cx="7224503" cy="849501"/>
          </a:xfrm>
          <a:prstGeom prst="rect">
            <a:avLst/>
          </a:prstGeom>
        </p:spPr>
        <p:txBody>
          <a:bodyPr anchor="t" rtlCol="false" tIns="0" lIns="0" bIns="0" rIns="0">
            <a:spAutoFit/>
          </a:bodyPr>
          <a:lstStyle/>
          <a:p>
            <a:pPr algn="l">
              <a:lnSpc>
                <a:spcPts val="3496"/>
              </a:lnSpc>
            </a:pPr>
            <a:r>
              <a:rPr lang="en-US" sz="2300" b="true">
                <a:solidFill>
                  <a:srgbClr val="0037BC"/>
                </a:solidFill>
                <a:latin typeface="Canva Sans Bold"/>
                <a:ea typeface="Canva Sans Bold"/>
                <a:cs typeface="Canva Sans Bold"/>
                <a:sym typeface="Canva Sans Bold"/>
              </a:rPr>
              <a:t>Metode Penolakan (Acceptance-Rejection Method)</a:t>
            </a:r>
          </a:p>
        </p:txBody>
      </p:sp>
      <p:sp>
        <p:nvSpPr>
          <p:cNvPr name="TextBox 17" id="17"/>
          <p:cNvSpPr txBox="true"/>
          <p:nvPr/>
        </p:nvSpPr>
        <p:spPr>
          <a:xfrm rot="0">
            <a:off x="10034797" y="6877985"/>
            <a:ext cx="7224503" cy="849501"/>
          </a:xfrm>
          <a:prstGeom prst="rect">
            <a:avLst/>
          </a:prstGeom>
        </p:spPr>
        <p:txBody>
          <a:bodyPr anchor="t" rtlCol="false" tIns="0" lIns="0" bIns="0" rIns="0">
            <a:spAutoFit/>
          </a:bodyPr>
          <a:lstStyle/>
          <a:p>
            <a:pPr algn="l">
              <a:lnSpc>
                <a:spcPts val="3496"/>
              </a:lnSpc>
            </a:pPr>
            <a:r>
              <a:rPr lang="en-US" sz="2300" b="true">
                <a:solidFill>
                  <a:srgbClr val="0037BC"/>
                </a:solidFill>
                <a:latin typeface="Canva Sans Bold"/>
                <a:ea typeface="Canva Sans Bold"/>
                <a:cs typeface="Canva Sans Bold"/>
                <a:sym typeface="Canva Sans Bold"/>
              </a:rPr>
              <a:t>Metode Transformasi Invers (Inverse Transform Method)</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86746" y="-1406234"/>
            <a:ext cx="19689922" cy="13118410"/>
          </a:xfrm>
          <a:custGeom>
            <a:avLst/>
            <a:gdLst/>
            <a:ahLst/>
            <a:cxnLst/>
            <a:rect r="r" b="b" t="t" l="l"/>
            <a:pathLst>
              <a:path h="13118410" w="19689922">
                <a:moveTo>
                  <a:pt x="0" y="0"/>
                </a:moveTo>
                <a:lnTo>
                  <a:pt x="19689922" y="0"/>
                </a:lnTo>
                <a:lnTo>
                  <a:pt x="19689922" y="13118410"/>
                </a:lnTo>
                <a:lnTo>
                  <a:pt x="0" y="13118410"/>
                </a:lnTo>
                <a:lnTo>
                  <a:pt x="0" y="0"/>
                </a:lnTo>
                <a:close/>
              </a:path>
            </a:pathLst>
          </a:custGeom>
          <a:blipFill>
            <a:blip r:embed="rId2">
              <a:alphaModFix amt="23000"/>
            </a:blip>
            <a:stretch>
              <a:fillRect l="0" t="0" r="0" b="0"/>
            </a:stretch>
          </a:blipFill>
        </p:spPr>
      </p:sp>
      <p:grpSp>
        <p:nvGrpSpPr>
          <p:cNvPr name="Group 3" id="3"/>
          <p:cNvGrpSpPr/>
          <p:nvPr/>
        </p:nvGrpSpPr>
        <p:grpSpPr>
          <a:xfrm rot="0">
            <a:off x="1028700" y="2281767"/>
            <a:ext cx="11180880" cy="2256726"/>
            <a:chOff x="0" y="0"/>
            <a:chExt cx="3284719" cy="662981"/>
          </a:xfrm>
        </p:grpSpPr>
        <p:sp>
          <p:nvSpPr>
            <p:cNvPr name="Freeform 4" id="4"/>
            <p:cNvSpPr/>
            <p:nvPr/>
          </p:nvSpPr>
          <p:spPr>
            <a:xfrm flipH="false" flipV="false" rot="0">
              <a:off x="0" y="0"/>
              <a:ext cx="3284719" cy="662981"/>
            </a:xfrm>
            <a:custGeom>
              <a:avLst/>
              <a:gdLst/>
              <a:ahLst/>
              <a:cxnLst/>
              <a:rect r="r" b="b" t="t" l="l"/>
              <a:pathLst>
                <a:path h="662981" w="3284719">
                  <a:moveTo>
                    <a:pt x="43623" y="0"/>
                  </a:moveTo>
                  <a:lnTo>
                    <a:pt x="3241097" y="0"/>
                  </a:lnTo>
                  <a:cubicBezTo>
                    <a:pt x="3265189" y="0"/>
                    <a:pt x="3284719" y="19531"/>
                    <a:pt x="3284719" y="43623"/>
                  </a:cubicBezTo>
                  <a:lnTo>
                    <a:pt x="3284719" y="619358"/>
                  </a:lnTo>
                  <a:cubicBezTo>
                    <a:pt x="3284719" y="630928"/>
                    <a:pt x="3280123" y="642023"/>
                    <a:pt x="3271943" y="650204"/>
                  </a:cubicBezTo>
                  <a:cubicBezTo>
                    <a:pt x="3263762" y="658385"/>
                    <a:pt x="3252666" y="662981"/>
                    <a:pt x="3241097" y="662981"/>
                  </a:cubicBezTo>
                  <a:lnTo>
                    <a:pt x="43623" y="662981"/>
                  </a:lnTo>
                  <a:cubicBezTo>
                    <a:pt x="19531" y="662981"/>
                    <a:pt x="0" y="643451"/>
                    <a:pt x="0" y="619358"/>
                  </a:cubicBezTo>
                  <a:lnTo>
                    <a:pt x="0" y="43623"/>
                  </a:lnTo>
                  <a:cubicBezTo>
                    <a:pt x="0" y="19531"/>
                    <a:pt x="19531" y="0"/>
                    <a:pt x="43623" y="0"/>
                  </a:cubicBezTo>
                  <a:close/>
                </a:path>
              </a:pathLst>
            </a:custGeom>
            <a:solidFill>
              <a:srgbClr val="0037BC"/>
            </a:solidFill>
          </p:spPr>
        </p:sp>
        <p:sp>
          <p:nvSpPr>
            <p:cNvPr name="TextBox 5" id="5"/>
            <p:cNvSpPr txBox="true"/>
            <p:nvPr/>
          </p:nvSpPr>
          <p:spPr>
            <a:xfrm>
              <a:off x="0" y="-47625"/>
              <a:ext cx="3284719" cy="710606"/>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028700" y="4642377"/>
            <a:ext cx="11180880" cy="2256726"/>
            <a:chOff x="0" y="0"/>
            <a:chExt cx="3284719" cy="662981"/>
          </a:xfrm>
        </p:grpSpPr>
        <p:sp>
          <p:nvSpPr>
            <p:cNvPr name="Freeform 7" id="7"/>
            <p:cNvSpPr/>
            <p:nvPr/>
          </p:nvSpPr>
          <p:spPr>
            <a:xfrm flipH="false" flipV="false" rot="0">
              <a:off x="0" y="0"/>
              <a:ext cx="3284719" cy="662981"/>
            </a:xfrm>
            <a:custGeom>
              <a:avLst/>
              <a:gdLst/>
              <a:ahLst/>
              <a:cxnLst/>
              <a:rect r="r" b="b" t="t" l="l"/>
              <a:pathLst>
                <a:path h="662981" w="3284719">
                  <a:moveTo>
                    <a:pt x="43623" y="0"/>
                  </a:moveTo>
                  <a:lnTo>
                    <a:pt x="3241097" y="0"/>
                  </a:lnTo>
                  <a:cubicBezTo>
                    <a:pt x="3265189" y="0"/>
                    <a:pt x="3284719" y="19531"/>
                    <a:pt x="3284719" y="43623"/>
                  </a:cubicBezTo>
                  <a:lnTo>
                    <a:pt x="3284719" y="619358"/>
                  </a:lnTo>
                  <a:cubicBezTo>
                    <a:pt x="3284719" y="630928"/>
                    <a:pt x="3280123" y="642023"/>
                    <a:pt x="3271943" y="650204"/>
                  </a:cubicBezTo>
                  <a:cubicBezTo>
                    <a:pt x="3263762" y="658385"/>
                    <a:pt x="3252666" y="662981"/>
                    <a:pt x="3241097" y="662981"/>
                  </a:cubicBezTo>
                  <a:lnTo>
                    <a:pt x="43623" y="662981"/>
                  </a:lnTo>
                  <a:cubicBezTo>
                    <a:pt x="19531" y="662981"/>
                    <a:pt x="0" y="643451"/>
                    <a:pt x="0" y="619358"/>
                  </a:cubicBezTo>
                  <a:lnTo>
                    <a:pt x="0" y="43623"/>
                  </a:lnTo>
                  <a:cubicBezTo>
                    <a:pt x="0" y="19531"/>
                    <a:pt x="19531" y="0"/>
                    <a:pt x="43623" y="0"/>
                  </a:cubicBezTo>
                  <a:close/>
                </a:path>
              </a:pathLst>
            </a:custGeom>
            <a:solidFill>
              <a:srgbClr val="0037BC"/>
            </a:solidFill>
          </p:spPr>
        </p:sp>
        <p:sp>
          <p:nvSpPr>
            <p:cNvPr name="TextBox 8" id="8"/>
            <p:cNvSpPr txBox="true"/>
            <p:nvPr/>
          </p:nvSpPr>
          <p:spPr>
            <a:xfrm>
              <a:off x="0" y="-47625"/>
              <a:ext cx="3284719" cy="710606"/>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028700" y="7001574"/>
            <a:ext cx="11180880" cy="2256726"/>
            <a:chOff x="0" y="0"/>
            <a:chExt cx="3284719" cy="662981"/>
          </a:xfrm>
        </p:grpSpPr>
        <p:sp>
          <p:nvSpPr>
            <p:cNvPr name="Freeform 10" id="10"/>
            <p:cNvSpPr/>
            <p:nvPr/>
          </p:nvSpPr>
          <p:spPr>
            <a:xfrm flipH="false" flipV="false" rot="0">
              <a:off x="0" y="0"/>
              <a:ext cx="3284719" cy="662981"/>
            </a:xfrm>
            <a:custGeom>
              <a:avLst/>
              <a:gdLst/>
              <a:ahLst/>
              <a:cxnLst/>
              <a:rect r="r" b="b" t="t" l="l"/>
              <a:pathLst>
                <a:path h="662981" w="3284719">
                  <a:moveTo>
                    <a:pt x="43623" y="0"/>
                  </a:moveTo>
                  <a:lnTo>
                    <a:pt x="3241097" y="0"/>
                  </a:lnTo>
                  <a:cubicBezTo>
                    <a:pt x="3265189" y="0"/>
                    <a:pt x="3284719" y="19531"/>
                    <a:pt x="3284719" y="43623"/>
                  </a:cubicBezTo>
                  <a:lnTo>
                    <a:pt x="3284719" y="619358"/>
                  </a:lnTo>
                  <a:cubicBezTo>
                    <a:pt x="3284719" y="630928"/>
                    <a:pt x="3280123" y="642023"/>
                    <a:pt x="3271943" y="650204"/>
                  </a:cubicBezTo>
                  <a:cubicBezTo>
                    <a:pt x="3263762" y="658385"/>
                    <a:pt x="3252666" y="662981"/>
                    <a:pt x="3241097" y="662981"/>
                  </a:cubicBezTo>
                  <a:lnTo>
                    <a:pt x="43623" y="662981"/>
                  </a:lnTo>
                  <a:cubicBezTo>
                    <a:pt x="19531" y="662981"/>
                    <a:pt x="0" y="643451"/>
                    <a:pt x="0" y="619358"/>
                  </a:cubicBezTo>
                  <a:lnTo>
                    <a:pt x="0" y="43623"/>
                  </a:lnTo>
                  <a:cubicBezTo>
                    <a:pt x="0" y="19531"/>
                    <a:pt x="19531" y="0"/>
                    <a:pt x="43623" y="0"/>
                  </a:cubicBezTo>
                  <a:close/>
                </a:path>
              </a:pathLst>
            </a:custGeom>
            <a:solidFill>
              <a:srgbClr val="0037BC"/>
            </a:solidFill>
          </p:spPr>
        </p:sp>
        <p:sp>
          <p:nvSpPr>
            <p:cNvPr name="TextBox 11" id="11"/>
            <p:cNvSpPr txBox="true"/>
            <p:nvPr/>
          </p:nvSpPr>
          <p:spPr>
            <a:xfrm>
              <a:off x="0" y="-47625"/>
              <a:ext cx="3284719" cy="710606"/>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8181435">
            <a:off x="15434532" y="-1864091"/>
            <a:ext cx="3086100" cy="3086100"/>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FFFFF">
                    <a:alpha val="100000"/>
                  </a:srgbClr>
                </a:gs>
                <a:gs pos="100000">
                  <a:srgbClr val="99BEFF">
                    <a:alpha val="100000"/>
                  </a:srgbClr>
                </a:gs>
              </a:gsLst>
              <a:path path="circle">
                <a:fillToRect l="0" r="100000" t="0" b="100000"/>
              </a:path>
              <a:tileRect r="0" l="-100000" b="0" t="-100000"/>
            </a:gradFill>
          </p:spPr>
        </p:sp>
        <p:sp>
          <p:nvSpPr>
            <p:cNvPr name="TextBox 14" id="14"/>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5400000">
            <a:off x="2069825" y="-2050460"/>
            <a:ext cx="374370" cy="5307700"/>
            <a:chOff x="0" y="0"/>
            <a:chExt cx="660400" cy="9362947"/>
          </a:xfrm>
        </p:grpSpPr>
        <p:sp>
          <p:nvSpPr>
            <p:cNvPr name="Freeform 16" id="16"/>
            <p:cNvSpPr/>
            <p:nvPr/>
          </p:nvSpPr>
          <p:spPr>
            <a:xfrm flipH="false" flipV="false" rot="0">
              <a:off x="0" y="0"/>
              <a:ext cx="660400" cy="9362947"/>
            </a:xfrm>
            <a:custGeom>
              <a:avLst/>
              <a:gdLst/>
              <a:ahLst/>
              <a:cxnLst/>
              <a:rect r="r" b="b" t="t" l="l"/>
              <a:pathLst>
                <a:path h="9362947" w="660400">
                  <a:moveTo>
                    <a:pt x="220252" y="9343878"/>
                  </a:moveTo>
                  <a:cubicBezTo>
                    <a:pt x="254109" y="9355393"/>
                    <a:pt x="292600" y="9362947"/>
                    <a:pt x="330378" y="9362947"/>
                  </a:cubicBezTo>
                  <a:cubicBezTo>
                    <a:pt x="368157" y="9362947"/>
                    <a:pt x="404509" y="9356471"/>
                    <a:pt x="438009" y="9344957"/>
                  </a:cubicBezTo>
                  <a:cubicBezTo>
                    <a:pt x="438723" y="9344597"/>
                    <a:pt x="439435" y="9344597"/>
                    <a:pt x="440148" y="9344237"/>
                  </a:cubicBezTo>
                  <a:cubicBezTo>
                    <a:pt x="565955" y="9298182"/>
                    <a:pt x="658618" y="9176569"/>
                    <a:pt x="660400" y="8844523"/>
                  </a:cubicBezTo>
                  <a:lnTo>
                    <a:pt x="660400" y="0"/>
                  </a:lnTo>
                  <a:lnTo>
                    <a:pt x="0" y="0"/>
                  </a:lnTo>
                  <a:lnTo>
                    <a:pt x="0" y="8837959"/>
                  </a:lnTo>
                  <a:cubicBezTo>
                    <a:pt x="1782" y="9177287"/>
                    <a:pt x="93019" y="9298902"/>
                    <a:pt x="220252" y="9343878"/>
                  </a:cubicBezTo>
                  <a:close/>
                </a:path>
              </a:pathLst>
            </a:custGeom>
            <a:gradFill rotWithShape="true">
              <a:gsLst>
                <a:gs pos="0">
                  <a:srgbClr val="FFFFFF">
                    <a:alpha val="100000"/>
                  </a:srgbClr>
                </a:gs>
                <a:gs pos="100000">
                  <a:srgbClr val="0045BF">
                    <a:alpha val="100000"/>
                  </a:srgbClr>
                </a:gs>
              </a:gsLst>
              <a:lin ang="5400000"/>
            </a:gradFill>
          </p:spPr>
        </p:sp>
        <p:sp>
          <p:nvSpPr>
            <p:cNvPr name="TextBox 17" id="17"/>
            <p:cNvSpPr txBox="true"/>
            <p:nvPr/>
          </p:nvSpPr>
          <p:spPr>
            <a:xfrm>
              <a:off x="0" y="-47625"/>
              <a:ext cx="660400" cy="9283572"/>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8181435">
            <a:off x="6259" y="9646393"/>
            <a:ext cx="3086100" cy="3086100"/>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FFFFF">
                    <a:alpha val="100000"/>
                  </a:srgbClr>
                </a:gs>
                <a:gs pos="100000">
                  <a:srgbClr val="99BEFF">
                    <a:alpha val="100000"/>
                  </a:srgbClr>
                </a:gs>
              </a:gsLst>
              <a:path path="circle">
                <a:fillToRect l="0" r="100000" t="0" b="100000"/>
              </a:path>
              <a:tileRect r="0" l="-100000" b="0" t="-100000"/>
            </a:gradFill>
          </p:spPr>
        </p:sp>
        <p:sp>
          <p:nvSpPr>
            <p:cNvPr name="TextBox 20" id="20"/>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10800000">
            <a:off x="15412466" y="8129937"/>
            <a:ext cx="2875534" cy="6482837"/>
            <a:chOff x="0" y="0"/>
            <a:chExt cx="660400" cy="1488859"/>
          </a:xfrm>
        </p:grpSpPr>
        <p:sp>
          <p:nvSpPr>
            <p:cNvPr name="Freeform 22" id="22"/>
            <p:cNvSpPr/>
            <p:nvPr/>
          </p:nvSpPr>
          <p:spPr>
            <a:xfrm flipH="false" flipV="false" rot="0">
              <a:off x="0" y="0"/>
              <a:ext cx="660400" cy="1488859"/>
            </a:xfrm>
            <a:custGeom>
              <a:avLst/>
              <a:gdLst/>
              <a:ahLst/>
              <a:cxnLst/>
              <a:rect r="r" b="b" t="t" l="l"/>
              <a:pathLst>
                <a:path h="1488859" w="660400">
                  <a:moveTo>
                    <a:pt x="220252" y="1469790"/>
                  </a:moveTo>
                  <a:cubicBezTo>
                    <a:pt x="254109" y="1481304"/>
                    <a:pt x="292600" y="1488859"/>
                    <a:pt x="330378" y="1488859"/>
                  </a:cubicBezTo>
                  <a:cubicBezTo>
                    <a:pt x="368157" y="1488859"/>
                    <a:pt x="404509" y="1482382"/>
                    <a:pt x="438009" y="1470868"/>
                  </a:cubicBezTo>
                  <a:cubicBezTo>
                    <a:pt x="438723" y="1470509"/>
                    <a:pt x="439435" y="1470509"/>
                    <a:pt x="440148" y="1470150"/>
                  </a:cubicBezTo>
                  <a:cubicBezTo>
                    <a:pt x="565955" y="1424094"/>
                    <a:pt x="658618" y="1302480"/>
                    <a:pt x="660400" y="1145340"/>
                  </a:cubicBezTo>
                  <a:lnTo>
                    <a:pt x="660400" y="0"/>
                  </a:lnTo>
                  <a:lnTo>
                    <a:pt x="0" y="0"/>
                  </a:lnTo>
                  <a:lnTo>
                    <a:pt x="0" y="1144490"/>
                  </a:lnTo>
                  <a:cubicBezTo>
                    <a:pt x="1782" y="1303199"/>
                    <a:pt x="93019" y="1424814"/>
                    <a:pt x="220252" y="1469790"/>
                  </a:cubicBezTo>
                  <a:close/>
                </a:path>
              </a:pathLst>
            </a:custGeom>
            <a:gradFill rotWithShape="true">
              <a:gsLst>
                <a:gs pos="0">
                  <a:srgbClr val="FFFFFF">
                    <a:alpha val="100000"/>
                  </a:srgbClr>
                </a:gs>
                <a:gs pos="100000">
                  <a:srgbClr val="0045BF">
                    <a:alpha val="100000"/>
                  </a:srgbClr>
                </a:gs>
              </a:gsLst>
              <a:lin ang="5400000"/>
            </a:gradFill>
          </p:spPr>
        </p:sp>
        <p:sp>
          <p:nvSpPr>
            <p:cNvPr name="TextBox 23" id="23"/>
            <p:cNvSpPr txBox="true"/>
            <p:nvPr/>
          </p:nvSpPr>
          <p:spPr>
            <a:xfrm>
              <a:off x="0" y="-47625"/>
              <a:ext cx="660400" cy="1409484"/>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0">
            <a:off x="12209580" y="181751"/>
            <a:ext cx="5516013" cy="9805561"/>
            <a:chOff x="0" y="0"/>
            <a:chExt cx="1620495" cy="2880678"/>
          </a:xfrm>
        </p:grpSpPr>
        <p:sp>
          <p:nvSpPr>
            <p:cNvPr name="Freeform 25" id="25"/>
            <p:cNvSpPr/>
            <p:nvPr/>
          </p:nvSpPr>
          <p:spPr>
            <a:xfrm flipH="false" flipV="false" rot="0">
              <a:off x="0" y="0"/>
              <a:ext cx="1620494" cy="2880678"/>
            </a:xfrm>
            <a:custGeom>
              <a:avLst/>
              <a:gdLst/>
              <a:ahLst/>
              <a:cxnLst/>
              <a:rect r="r" b="b" t="t" l="l"/>
              <a:pathLst>
                <a:path h="2880678" w="1620494">
                  <a:moveTo>
                    <a:pt x="88423" y="0"/>
                  </a:moveTo>
                  <a:lnTo>
                    <a:pt x="1532072" y="0"/>
                  </a:lnTo>
                  <a:cubicBezTo>
                    <a:pt x="1580906" y="0"/>
                    <a:pt x="1620494" y="39588"/>
                    <a:pt x="1620494" y="88423"/>
                  </a:cubicBezTo>
                  <a:lnTo>
                    <a:pt x="1620494" y="2792255"/>
                  </a:lnTo>
                  <a:cubicBezTo>
                    <a:pt x="1620494" y="2841090"/>
                    <a:pt x="1580906" y="2880678"/>
                    <a:pt x="1532072" y="2880678"/>
                  </a:cubicBezTo>
                  <a:lnTo>
                    <a:pt x="88423" y="2880678"/>
                  </a:lnTo>
                  <a:cubicBezTo>
                    <a:pt x="39588" y="2880678"/>
                    <a:pt x="0" y="2841090"/>
                    <a:pt x="0" y="2792255"/>
                  </a:cubicBezTo>
                  <a:lnTo>
                    <a:pt x="0" y="88423"/>
                  </a:lnTo>
                  <a:cubicBezTo>
                    <a:pt x="0" y="39588"/>
                    <a:pt x="39588" y="0"/>
                    <a:pt x="88423" y="0"/>
                  </a:cubicBezTo>
                  <a:close/>
                </a:path>
              </a:pathLst>
            </a:custGeom>
            <a:gradFill rotWithShape="true">
              <a:gsLst>
                <a:gs pos="0">
                  <a:srgbClr val="99BEFF">
                    <a:alpha val="100000"/>
                  </a:srgbClr>
                </a:gs>
                <a:gs pos="100000">
                  <a:srgbClr val="FFFFFF">
                    <a:alpha val="100000"/>
                  </a:srgbClr>
                </a:gs>
              </a:gsLst>
              <a:path path="circle">
                <a:fillToRect l="0" r="100000" t="0" b="100000"/>
              </a:path>
              <a:tileRect r="0" l="-100000" b="0" t="-100000"/>
            </a:gradFill>
          </p:spPr>
        </p:sp>
        <p:sp>
          <p:nvSpPr>
            <p:cNvPr name="TextBox 26" id="26"/>
            <p:cNvSpPr txBox="true"/>
            <p:nvPr/>
          </p:nvSpPr>
          <p:spPr>
            <a:xfrm>
              <a:off x="0" y="-47625"/>
              <a:ext cx="1620495" cy="2928303"/>
            </a:xfrm>
            <a:prstGeom prst="rect">
              <a:avLst/>
            </a:prstGeom>
          </p:spPr>
          <p:txBody>
            <a:bodyPr anchor="ctr" rtlCol="false" tIns="50800" lIns="50800" bIns="50800" rIns="50800"/>
            <a:lstStyle/>
            <a:p>
              <a:pPr algn="ctr">
                <a:lnSpc>
                  <a:spcPts val="2659"/>
                </a:lnSpc>
              </a:pPr>
            </a:p>
          </p:txBody>
        </p:sp>
      </p:grpSp>
      <p:sp>
        <p:nvSpPr>
          <p:cNvPr name="Freeform 27" id="27"/>
          <p:cNvSpPr/>
          <p:nvPr/>
        </p:nvSpPr>
        <p:spPr>
          <a:xfrm flipH="false" flipV="false" rot="0">
            <a:off x="12399716" y="885456"/>
            <a:ext cx="5135741" cy="8815312"/>
          </a:xfrm>
          <a:custGeom>
            <a:avLst/>
            <a:gdLst/>
            <a:ahLst/>
            <a:cxnLst/>
            <a:rect r="r" b="b" t="t" l="l"/>
            <a:pathLst>
              <a:path h="8815312" w="5135741">
                <a:moveTo>
                  <a:pt x="0" y="0"/>
                </a:moveTo>
                <a:lnTo>
                  <a:pt x="5135741" y="0"/>
                </a:lnTo>
                <a:lnTo>
                  <a:pt x="5135741" y="8815312"/>
                </a:lnTo>
                <a:lnTo>
                  <a:pt x="0" y="8815312"/>
                </a:lnTo>
                <a:lnTo>
                  <a:pt x="0" y="0"/>
                </a:lnTo>
                <a:close/>
              </a:path>
            </a:pathLst>
          </a:custGeom>
          <a:blipFill>
            <a:blip r:embed="rId3"/>
            <a:stretch>
              <a:fillRect l="0" t="0" r="0" b="0"/>
            </a:stretch>
          </a:blipFill>
        </p:spPr>
      </p:sp>
      <p:sp>
        <p:nvSpPr>
          <p:cNvPr name="TextBox 28" id="28"/>
          <p:cNvSpPr txBox="true"/>
          <p:nvPr/>
        </p:nvSpPr>
        <p:spPr>
          <a:xfrm rot="0">
            <a:off x="1549309" y="7658477"/>
            <a:ext cx="10162875" cy="1397000"/>
          </a:xfrm>
          <a:prstGeom prst="rect">
            <a:avLst/>
          </a:prstGeom>
        </p:spPr>
        <p:txBody>
          <a:bodyPr anchor="t" rtlCol="false" tIns="0" lIns="0" bIns="0" rIns="0">
            <a:spAutoFit/>
          </a:bodyPr>
          <a:lstStyle/>
          <a:p>
            <a:pPr algn="just">
              <a:lnSpc>
                <a:spcPts val="2799"/>
              </a:lnSpc>
              <a:spcBef>
                <a:spcPct val="0"/>
              </a:spcBef>
            </a:pPr>
            <a:r>
              <a:rPr lang="en-US" sz="1999">
                <a:solidFill>
                  <a:srgbClr val="FFFFFF"/>
                </a:solidFill>
                <a:latin typeface="Canva Sans"/>
                <a:ea typeface="Canva Sans"/>
                <a:cs typeface="Canva Sans"/>
                <a:sym typeface="Canva Sans"/>
              </a:rPr>
              <a:t>Variabel utama penelitian adalah jumlah pengunjung per hari kerja selama Oktober 2025 yang bersifat kuantitatif diskrit. Data ini digunakan sebagai dasar pemodelan statistik untuk mengidentifikasi distribusi yang paling akurat menggambarkan pola kunjungan nyata melalui simulasi bilangan acak.</a:t>
            </a:r>
          </a:p>
        </p:txBody>
      </p:sp>
      <p:sp>
        <p:nvSpPr>
          <p:cNvPr name="TextBox 29" id="29"/>
          <p:cNvSpPr txBox="true"/>
          <p:nvPr/>
        </p:nvSpPr>
        <p:spPr>
          <a:xfrm rot="0">
            <a:off x="1028700" y="609600"/>
            <a:ext cx="8929273" cy="1250949"/>
          </a:xfrm>
          <a:prstGeom prst="rect">
            <a:avLst/>
          </a:prstGeom>
        </p:spPr>
        <p:txBody>
          <a:bodyPr anchor="t" rtlCol="false" tIns="0" lIns="0" bIns="0" rIns="0">
            <a:spAutoFit/>
          </a:bodyPr>
          <a:lstStyle/>
          <a:p>
            <a:pPr algn="l">
              <a:lnSpc>
                <a:spcPts val="11000"/>
              </a:lnSpc>
              <a:spcBef>
                <a:spcPct val="0"/>
              </a:spcBef>
            </a:pPr>
            <a:r>
              <a:rPr lang="en-US" b="true" sz="5500">
                <a:solidFill>
                  <a:srgbClr val="0044BC"/>
                </a:solidFill>
                <a:latin typeface="Canva Sans Bold"/>
                <a:ea typeface="Canva Sans Bold"/>
                <a:cs typeface="Canva Sans Bold"/>
                <a:sym typeface="Canva Sans Bold"/>
              </a:rPr>
              <a:t>Metode Penelitian</a:t>
            </a:r>
          </a:p>
        </p:txBody>
      </p:sp>
      <p:sp>
        <p:nvSpPr>
          <p:cNvPr name="TextBox 30" id="30"/>
          <p:cNvSpPr txBox="true"/>
          <p:nvPr/>
        </p:nvSpPr>
        <p:spPr>
          <a:xfrm rot="0">
            <a:off x="1549309" y="2218948"/>
            <a:ext cx="3631422" cy="685799"/>
          </a:xfrm>
          <a:prstGeom prst="rect">
            <a:avLst/>
          </a:prstGeom>
        </p:spPr>
        <p:txBody>
          <a:bodyPr anchor="t" rtlCol="false" tIns="0" lIns="0" bIns="0" rIns="0">
            <a:spAutoFit/>
          </a:bodyPr>
          <a:lstStyle/>
          <a:p>
            <a:pPr algn="l">
              <a:lnSpc>
                <a:spcPts val="6000"/>
              </a:lnSpc>
              <a:spcBef>
                <a:spcPct val="0"/>
              </a:spcBef>
            </a:pPr>
            <a:r>
              <a:rPr lang="en-US" b="true" sz="3000">
                <a:solidFill>
                  <a:srgbClr val="FFFFFF"/>
                </a:solidFill>
                <a:latin typeface="Canva Sans Bold"/>
                <a:ea typeface="Canva Sans Bold"/>
                <a:cs typeface="Canva Sans Bold"/>
                <a:sym typeface="Canva Sans Bold"/>
              </a:rPr>
              <a:t>Jenis Data</a:t>
            </a:r>
          </a:p>
        </p:txBody>
      </p:sp>
      <p:sp>
        <p:nvSpPr>
          <p:cNvPr name="TextBox 31" id="31"/>
          <p:cNvSpPr txBox="true"/>
          <p:nvPr/>
        </p:nvSpPr>
        <p:spPr>
          <a:xfrm rot="0">
            <a:off x="1549309" y="4550163"/>
            <a:ext cx="5286346" cy="685799"/>
          </a:xfrm>
          <a:prstGeom prst="rect">
            <a:avLst/>
          </a:prstGeom>
        </p:spPr>
        <p:txBody>
          <a:bodyPr anchor="t" rtlCol="false" tIns="0" lIns="0" bIns="0" rIns="0">
            <a:spAutoFit/>
          </a:bodyPr>
          <a:lstStyle/>
          <a:p>
            <a:pPr algn="l">
              <a:lnSpc>
                <a:spcPts val="6000"/>
              </a:lnSpc>
              <a:spcBef>
                <a:spcPct val="0"/>
              </a:spcBef>
            </a:pPr>
            <a:r>
              <a:rPr lang="en-US" b="true" sz="3000">
                <a:solidFill>
                  <a:srgbClr val="FFFFFF"/>
                </a:solidFill>
                <a:latin typeface="Canva Sans Bold"/>
                <a:ea typeface="Canva Sans Bold"/>
                <a:cs typeface="Canva Sans Bold"/>
                <a:sym typeface="Canva Sans Bold"/>
              </a:rPr>
              <a:t>Teknik Pengumpulan Data </a:t>
            </a:r>
          </a:p>
        </p:txBody>
      </p:sp>
      <p:sp>
        <p:nvSpPr>
          <p:cNvPr name="TextBox 32" id="32"/>
          <p:cNvSpPr txBox="true"/>
          <p:nvPr/>
        </p:nvSpPr>
        <p:spPr>
          <a:xfrm rot="0">
            <a:off x="1549309" y="6906003"/>
            <a:ext cx="5286346" cy="685799"/>
          </a:xfrm>
          <a:prstGeom prst="rect">
            <a:avLst/>
          </a:prstGeom>
        </p:spPr>
        <p:txBody>
          <a:bodyPr anchor="t" rtlCol="false" tIns="0" lIns="0" bIns="0" rIns="0">
            <a:spAutoFit/>
          </a:bodyPr>
          <a:lstStyle/>
          <a:p>
            <a:pPr algn="l">
              <a:lnSpc>
                <a:spcPts val="6000"/>
              </a:lnSpc>
              <a:spcBef>
                <a:spcPct val="0"/>
              </a:spcBef>
            </a:pPr>
            <a:r>
              <a:rPr lang="en-US" b="true" sz="3000">
                <a:solidFill>
                  <a:srgbClr val="FFFFFF"/>
                </a:solidFill>
                <a:latin typeface="Canva Sans Bold"/>
                <a:ea typeface="Canva Sans Bold"/>
                <a:cs typeface="Canva Sans Bold"/>
                <a:sym typeface="Canva Sans Bold"/>
              </a:rPr>
              <a:t>Variabel Yang Diamati</a:t>
            </a:r>
          </a:p>
        </p:txBody>
      </p:sp>
      <p:sp>
        <p:nvSpPr>
          <p:cNvPr name="TextBox 33" id="33"/>
          <p:cNvSpPr txBox="true"/>
          <p:nvPr/>
        </p:nvSpPr>
        <p:spPr>
          <a:xfrm rot="0">
            <a:off x="1549309" y="2923797"/>
            <a:ext cx="10162875" cy="1397000"/>
          </a:xfrm>
          <a:prstGeom prst="rect">
            <a:avLst/>
          </a:prstGeom>
        </p:spPr>
        <p:txBody>
          <a:bodyPr anchor="t" rtlCol="false" tIns="0" lIns="0" bIns="0" rIns="0">
            <a:spAutoFit/>
          </a:bodyPr>
          <a:lstStyle/>
          <a:p>
            <a:pPr algn="just">
              <a:lnSpc>
                <a:spcPts val="2799"/>
              </a:lnSpc>
              <a:spcBef>
                <a:spcPct val="0"/>
              </a:spcBef>
            </a:pPr>
            <a:r>
              <a:rPr lang="en-US" sz="1999">
                <a:solidFill>
                  <a:srgbClr val="FFFFFF"/>
                </a:solidFill>
                <a:latin typeface="Canva Sans"/>
                <a:ea typeface="Canva Sans"/>
                <a:cs typeface="Canva Sans"/>
                <a:sym typeface="Canva Sans"/>
              </a:rPr>
              <a:t>Penelitian ini menggunakan data sekunder dari dokumentasi pengunjung Perpustakaan GKU 1 ITERA pada hari kerja selama Oktober 2025. Data tersebut, yang awalnya berupa time series, dikelompokkan menjadi data kuantitatif diskrit untuk keperluan analisis. </a:t>
            </a:r>
          </a:p>
        </p:txBody>
      </p:sp>
      <p:sp>
        <p:nvSpPr>
          <p:cNvPr name="TextBox 34" id="34"/>
          <p:cNvSpPr txBox="true"/>
          <p:nvPr/>
        </p:nvSpPr>
        <p:spPr>
          <a:xfrm rot="0">
            <a:off x="1549309" y="5255012"/>
            <a:ext cx="10162875" cy="1397000"/>
          </a:xfrm>
          <a:prstGeom prst="rect">
            <a:avLst/>
          </a:prstGeom>
        </p:spPr>
        <p:txBody>
          <a:bodyPr anchor="t" rtlCol="false" tIns="0" lIns="0" bIns="0" rIns="0">
            <a:spAutoFit/>
          </a:bodyPr>
          <a:lstStyle/>
          <a:p>
            <a:pPr algn="just">
              <a:lnSpc>
                <a:spcPts val="2799"/>
              </a:lnSpc>
              <a:spcBef>
                <a:spcPct val="0"/>
              </a:spcBef>
            </a:pPr>
            <a:r>
              <a:rPr lang="en-US" sz="1999">
                <a:solidFill>
                  <a:srgbClr val="FFFFFF"/>
                </a:solidFill>
                <a:latin typeface="Canva Sans"/>
                <a:ea typeface="Canva Sans"/>
                <a:cs typeface="Canva Sans"/>
                <a:sym typeface="Canva Sans"/>
              </a:rPr>
              <a:t>Pengumpulan data dilakukan melalui metode dokumentasi yang dilanjutkan dengan pembersihan dan pengelompokan untuk menghasilkan struktur data yang seragam. Tahapan preparasi ini bertujuan menjamin validitas data agar hasil analisis statistik akurat dan bebas dari distorsi teknis.</a:t>
            </a:r>
          </a:p>
        </p:txBody>
      </p:sp>
      <p:sp>
        <p:nvSpPr>
          <p:cNvPr name="TextBox 35" id="35"/>
          <p:cNvSpPr txBox="true"/>
          <p:nvPr/>
        </p:nvSpPr>
        <p:spPr>
          <a:xfrm rot="0">
            <a:off x="13894147" y="-40994"/>
            <a:ext cx="3631422" cy="685799"/>
          </a:xfrm>
          <a:prstGeom prst="rect">
            <a:avLst/>
          </a:prstGeom>
        </p:spPr>
        <p:txBody>
          <a:bodyPr anchor="t" rtlCol="false" tIns="0" lIns="0" bIns="0" rIns="0">
            <a:spAutoFit/>
          </a:bodyPr>
          <a:lstStyle/>
          <a:p>
            <a:pPr algn="l">
              <a:lnSpc>
                <a:spcPts val="6000"/>
              </a:lnSpc>
              <a:spcBef>
                <a:spcPct val="0"/>
              </a:spcBef>
            </a:pPr>
            <a:r>
              <a:rPr lang="en-US" b="true" sz="3000">
                <a:solidFill>
                  <a:srgbClr val="FFFFFF"/>
                </a:solidFill>
                <a:latin typeface="Canva Sans Bold"/>
                <a:ea typeface="Canva Sans Bold"/>
                <a:cs typeface="Canva Sans Bold"/>
                <a:sym typeface="Canva Sans Bold"/>
              </a:rPr>
              <a:t>DIAGRAM ALIR</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86746" y="-1406234"/>
            <a:ext cx="19689922" cy="13118410"/>
          </a:xfrm>
          <a:custGeom>
            <a:avLst/>
            <a:gdLst/>
            <a:ahLst/>
            <a:cxnLst/>
            <a:rect r="r" b="b" t="t" l="l"/>
            <a:pathLst>
              <a:path h="13118410" w="19689922">
                <a:moveTo>
                  <a:pt x="0" y="0"/>
                </a:moveTo>
                <a:lnTo>
                  <a:pt x="19689922" y="0"/>
                </a:lnTo>
                <a:lnTo>
                  <a:pt x="19689922" y="13118410"/>
                </a:lnTo>
                <a:lnTo>
                  <a:pt x="0" y="13118410"/>
                </a:lnTo>
                <a:lnTo>
                  <a:pt x="0" y="0"/>
                </a:lnTo>
                <a:close/>
              </a:path>
            </a:pathLst>
          </a:custGeom>
          <a:blipFill>
            <a:blip r:embed="rId2">
              <a:alphaModFix amt="23000"/>
            </a:blip>
            <a:stretch>
              <a:fillRect l="0" t="0" r="0" b="0"/>
            </a:stretch>
          </a:blipFill>
        </p:spPr>
      </p:sp>
      <p:grpSp>
        <p:nvGrpSpPr>
          <p:cNvPr name="Group 3" id="3"/>
          <p:cNvGrpSpPr/>
          <p:nvPr/>
        </p:nvGrpSpPr>
        <p:grpSpPr>
          <a:xfrm rot="6683048">
            <a:off x="15048747" y="-1709620"/>
            <a:ext cx="3832663" cy="3832663"/>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FFFFF">
                    <a:alpha val="100000"/>
                  </a:srgbClr>
                </a:gs>
                <a:gs pos="100000">
                  <a:srgbClr val="99BEFF">
                    <a:alpha val="100000"/>
                  </a:srgbClr>
                </a:gs>
              </a:gsLst>
              <a:path path="circle">
                <a:fillToRect l="0" r="100000" t="0" b="100000"/>
              </a:path>
              <a:tileRect r="0" l="-100000" b="0" t="-100000"/>
            </a:gradFill>
          </p:spPr>
        </p:sp>
        <p:sp>
          <p:nvSpPr>
            <p:cNvPr name="TextBox 5" id="5"/>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5400000">
            <a:off x="2929863" y="-2701193"/>
            <a:ext cx="546451" cy="6406178"/>
            <a:chOff x="0" y="0"/>
            <a:chExt cx="660400" cy="7742029"/>
          </a:xfrm>
        </p:grpSpPr>
        <p:sp>
          <p:nvSpPr>
            <p:cNvPr name="Freeform 7" id="7"/>
            <p:cNvSpPr/>
            <p:nvPr/>
          </p:nvSpPr>
          <p:spPr>
            <a:xfrm flipH="false" flipV="false" rot="0">
              <a:off x="0" y="0"/>
              <a:ext cx="660400" cy="7742028"/>
            </a:xfrm>
            <a:custGeom>
              <a:avLst/>
              <a:gdLst/>
              <a:ahLst/>
              <a:cxnLst/>
              <a:rect r="r" b="b" t="t" l="l"/>
              <a:pathLst>
                <a:path h="7742028" w="660400">
                  <a:moveTo>
                    <a:pt x="220252" y="7722960"/>
                  </a:moveTo>
                  <a:cubicBezTo>
                    <a:pt x="254109" y="7734474"/>
                    <a:pt x="292600" y="7742028"/>
                    <a:pt x="330378" y="7742028"/>
                  </a:cubicBezTo>
                  <a:cubicBezTo>
                    <a:pt x="368157" y="7742028"/>
                    <a:pt x="404509" y="7735552"/>
                    <a:pt x="438009" y="7724038"/>
                  </a:cubicBezTo>
                  <a:cubicBezTo>
                    <a:pt x="438723" y="7723678"/>
                    <a:pt x="439435" y="7723678"/>
                    <a:pt x="440148" y="7723319"/>
                  </a:cubicBezTo>
                  <a:cubicBezTo>
                    <a:pt x="565955" y="7677264"/>
                    <a:pt x="658618" y="7555650"/>
                    <a:pt x="660400" y="7259609"/>
                  </a:cubicBezTo>
                  <a:lnTo>
                    <a:pt x="660400" y="0"/>
                  </a:lnTo>
                  <a:lnTo>
                    <a:pt x="0" y="0"/>
                  </a:lnTo>
                  <a:lnTo>
                    <a:pt x="0" y="7254222"/>
                  </a:lnTo>
                  <a:cubicBezTo>
                    <a:pt x="1782" y="7556368"/>
                    <a:pt x="93019" y="7677984"/>
                    <a:pt x="220252" y="7722960"/>
                  </a:cubicBezTo>
                  <a:close/>
                </a:path>
              </a:pathLst>
            </a:custGeom>
            <a:gradFill rotWithShape="true">
              <a:gsLst>
                <a:gs pos="0">
                  <a:srgbClr val="FFFFFF">
                    <a:alpha val="100000"/>
                  </a:srgbClr>
                </a:gs>
                <a:gs pos="100000">
                  <a:srgbClr val="0045BF">
                    <a:alpha val="100000"/>
                  </a:srgbClr>
                </a:gs>
              </a:gsLst>
              <a:lin ang="5400000"/>
            </a:gradFill>
          </p:spPr>
        </p:sp>
        <p:sp>
          <p:nvSpPr>
            <p:cNvPr name="TextBox 8" id="8"/>
            <p:cNvSpPr txBox="true"/>
            <p:nvPr/>
          </p:nvSpPr>
          <p:spPr>
            <a:xfrm>
              <a:off x="0" y="-47625"/>
              <a:ext cx="660400" cy="7662654"/>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5400000">
            <a:off x="15867688" y="7561343"/>
            <a:ext cx="380455" cy="4460168"/>
            <a:chOff x="0" y="0"/>
            <a:chExt cx="660400" cy="7742029"/>
          </a:xfrm>
        </p:grpSpPr>
        <p:sp>
          <p:nvSpPr>
            <p:cNvPr name="Freeform 10" id="10"/>
            <p:cNvSpPr/>
            <p:nvPr/>
          </p:nvSpPr>
          <p:spPr>
            <a:xfrm flipH="false" flipV="false" rot="0">
              <a:off x="0" y="0"/>
              <a:ext cx="660400" cy="7742028"/>
            </a:xfrm>
            <a:custGeom>
              <a:avLst/>
              <a:gdLst/>
              <a:ahLst/>
              <a:cxnLst/>
              <a:rect r="r" b="b" t="t" l="l"/>
              <a:pathLst>
                <a:path h="7742028" w="660400">
                  <a:moveTo>
                    <a:pt x="220252" y="7722960"/>
                  </a:moveTo>
                  <a:cubicBezTo>
                    <a:pt x="254109" y="7734474"/>
                    <a:pt x="292600" y="7742028"/>
                    <a:pt x="330378" y="7742028"/>
                  </a:cubicBezTo>
                  <a:cubicBezTo>
                    <a:pt x="368157" y="7742028"/>
                    <a:pt x="404509" y="7735552"/>
                    <a:pt x="438009" y="7724038"/>
                  </a:cubicBezTo>
                  <a:cubicBezTo>
                    <a:pt x="438723" y="7723678"/>
                    <a:pt x="439435" y="7723678"/>
                    <a:pt x="440148" y="7723319"/>
                  </a:cubicBezTo>
                  <a:cubicBezTo>
                    <a:pt x="565955" y="7677264"/>
                    <a:pt x="658618" y="7555650"/>
                    <a:pt x="660400" y="7259609"/>
                  </a:cubicBezTo>
                  <a:lnTo>
                    <a:pt x="660400" y="0"/>
                  </a:lnTo>
                  <a:lnTo>
                    <a:pt x="0" y="0"/>
                  </a:lnTo>
                  <a:lnTo>
                    <a:pt x="0" y="7254222"/>
                  </a:lnTo>
                  <a:cubicBezTo>
                    <a:pt x="1782" y="7556368"/>
                    <a:pt x="93019" y="7677984"/>
                    <a:pt x="220252" y="7722960"/>
                  </a:cubicBezTo>
                  <a:close/>
                </a:path>
              </a:pathLst>
            </a:custGeom>
            <a:gradFill rotWithShape="true">
              <a:gsLst>
                <a:gs pos="0">
                  <a:srgbClr val="FFFFFF">
                    <a:alpha val="100000"/>
                  </a:srgbClr>
                </a:gs>
                <a:gs pos="100000">
                  <a:srgbClr val="0045BF">
                    <a:alpha val="100000"/>
                  </a:srgbClr>
                </a:gs>
              </a:gsLst>
              <a:lin ang="5400000"/>
            </a:gradFill>
          </p:spPr>
        </p:sp>
        <p:sp>
          <p:nvSpPr>
            <p:cNvPr name="TextBox 11" id="11"/>
            <p:cNvSpPr txBox="true"/>
            <p:nvPr/>
          </p:nvSpPr>
          <p:spPr>
            <a:xfrm>
              <a:off x="0" y="-47625"/>
              <a:ext cx="660400" cy="7662654"/>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1028700" y="1642050"/>
            <a:ext cx="3798448" cy="3798448"/>
          </a:xfrm>
          <a:custGeom>
            <a:avLst/>
            <a:gdLst/>
            <a:ahLst/>
            <a:cxnLst/>
            <a:rect r="r" b="b" t="t" l="l"/>
            <a:pathLst>
              <a:path h="3798448" w="3798448">
                <a:moveTo>
                  <a:pt x="0" y="0"/>
                </a:moveTo>
                <a:lnTo>
                  <a:pt x="3798448" y="0"/>
                </a:lnTo>
                <a:lnTo>
                  <a:pt x="3798448" y="3798447"/>
                </a:lnTo>
                <a:lnTo>
                  <a:pt x="0" y="3798447"/>
                </a:lnTo>
                <a:lnTo>
                  <a:pt x="0" y="0"/>
                </a:lnTo>
                <a:close/>
              </a:path>
            </a:pathLst>
          </a:custGeom>
          <a:blipFill>
            <a:blip r:embed="rId3"/>
            <a:stretch>
              <a:fillRect l="0" t="0" r="0" b="0"/>
            </a:stretch>
          </a:blipFill>
        </p:spPr>
      </p:sp>
      <p:sp>
        <p:nvSpPr>
          <p:cNvPr name="Freeform 13" id="13"/>
          <p:cNvSpPr/>
          <p:nvPr/>
        </p:nvSpPr>
        <p:spPr>
          <a:xfrm flipH="false" flipV="false" rot="0">
            <a:off x="5068480" y="1627710"/>
            <a:ext cx="3812788" cy="3812788"/>
          </a:xfrm>
          <a:custGeom>
            <a:avLst/>
            <a:gdLst/>
            <a:ahLst/>
            <a:cxnLst/>
            <a:rect r="r" b="b" t="t" l="l"/>
            <a:pathLst>
              <a:path h="3812788" w="3812788">
                <a:moveTo>
                  <a:pt x="0" y="0"/>
                </a:moveTo>
                <a:lnTo>
                  <a:pt x="3812788" y="0"/>
                </a:lnTo>
                <a:lnTo>
                  <a:pt x="3812788" y="3812787"/>
                </a:lnTo>
                <a:lnTo>
                  <a:pt x="0" y="3812787"/>
                </a:lnTo>
                <a:lnTo>
                  <a:pt x="0" y="0"/>
                </a:lnTo>
                <a:close/>
              </a:path>
            </a:pathLst>
          </a:custGeom>
          <a:blipFill>
            <a:blip r:embed="rId4"/>
            <a:stretch>
              <a:fillRect l="0" t="0" r="0" b="0"/>
            </a:stretch>
          </a:blipFill>
        </p:spPr>
      </p:sp>
      <p:sp>
        <p:nvSpPr>
          <p:cNvPr name="Freeform 14" id="14"/>
          <p:cNvSpPr/>
          <p:nvPr/>
        </p:nvSpPr>
        <p:spPr>
          <a:xfrm flipH="false" flipV="false" rot="0">
            <a:off x="1180169" y="5726247"/>
            <a:ext cx="4065180" cy="4065180"/>
          </a:xfrm>
          <a:custGeom>
            <a:avLst/>
            <a:gdLst/>
            <a:ahLst/>
            <a:cxnLst/>
            <a:rect r="r" b="b" t="t" l="l"/>
            <a:pathLst>
              <a:path h="4065180" w="4065180">
                <a:moveTo>
                  <a:pt x="0" y="0"/>
                </a:moveTo>
                <a:lnTo>
                  <a:pt x="4065181" y="0"/>
                </a:lnTo>
                <a:lnTo>
                  <a:pt x="4065181" y="4065181"/>
                </a:lnTo>
                <a:lnTo>
                  <a:pt x="0" y="4065181"/>
                </a:lnTo>
                <a:lnTo>
                  <a:pt x="0" y="0"/>
                </a:lnTo>
                <a:close/>
              </a:path>
            </a:pathLst>
          </a:custGeom>
          <a:blipFill>
            <a:blip r:embed="rId5"/>
            <a:stretch>
              <a:fillRect l="0" t="0" r="0" b="0"/>
            </a:stretch>
          </a:blipFill>
        </p:spPr>
      </p:sp>
      <p:grpSp>
        <p:nvGrpSpPr>
          <p:cNvPr name="Group 15" id="15"/>
          <p:cNvGrpSpPr/>
          <p:nvPr/>
        </p:nvGrpSpPr>
        <p:grpSpPr>
          <a:xfrm rot="0">
            <a:off x="5264345" y="5725331"/>
            <a:ext cx="4565151" cy="4408506"/>
            <a:chOff x="0" y="0"/>
            <a:chExt cx="1341150" cy="1295131"/>
          </a:xfrm>
        </p:grpSpPr>
        <p:sp>
          <p:nvSpPr>
            <p:cNvPr name="Freeform 16" id="16"/>
            <p:cNvSpPr/>
            <p:nvPr/>
          </p:nvSpPr>
          <p:spPr>
            <a:xfrm flipH="false" flipV="false" rot="0">
              <a:off x="0" y="0"/>
              <a:ext cx="1341150" cy="1295131"/>
            </a:xfrm>
            <a:custGeom>
              <a:avLst/>
              <a:gdLst/>
              <a:ahLst/>
              <a:cxnLst/>
              <a:rect r="r" b="b" t="t" l="l"/>
              <a:pathLst>
                <a:path h="1295131" w="1341150">
                  <a:moveTo>
                    <a:pt x="106840" y="0"/>
                  </a:moveTo>
                  <a:lnTo>
                    <a:pt x="1234310" y="0"/>
                  </a:lnTo>
                  <a:cubicBezTo>
                    <a:pt x="1262646" y="0"/>
                    <a:pt x="1289821" y="11256"/>
                    <a:pt x="1309857" y="31293"/>
                  </a:cubicBezTo>
                  <a:cubicBezTo>
                    <a:pt x="1329894" y="51329"/>
                    <a:pt x="1341150" y="78504"/>
                    <a:pt x="1341150" y="106840"/>
                  </a:cubicBezTo>
                  <a:lnTo>
                    <a:pt x="1341150" y="1188291"/>
                  </a:lnTo>
                  <a:cubicBezTo>
                    <a:pt x="1341150" y="1247297"/>
                    <a:pt x="1293316" y="1295131"/>
                    <a:pt x="1234310" y="1295131"/>
                  </a:cubicBezTo>
                  <a:lnTo>
                    <a:pt x="106840" y="1295131"/>
                  </a:lnTo>
                  <a:cubicBezTo>
                    <a:pt x="47834" y="1295131"/>
                    <a:pt x="0" y="1247297"/>
                    <a:pt x="0" y="1188291"/>
                  </a:cubicBezTo>
                  <a:lnTo>
                    <a:pt x="0" y="106840"/>
                  </a:lnTo>
                  <a:cubicBezTo>
                    <a:pt x="0" y="47834"/>
                    <a:pt x="47834" y="0"/>
                    <a:pt x="106840" y="0"/>
                  </a:cubicBezTo>
                  <a:close/>
                </a:path>
              </a:pathLst>
            </a:custGeom>
            <a:gradFill rotWithShape="true">
              <a:gsLst>
                <a:gs pos="0">
                  <a:srgbClr val="FFFFFF">
                    <a:alpha val="100000"/>
                  </a:srgbClr>
                </a:gs>
                <a:gs pos="100000">
                  <a:srgbClr val="99BEFF">
                    <a:alpha val="100000"/>
                  </a:srgbClr>
                </a:gs>
              </a:gsLst>
              <a:path path="circle">
                <a:fillToRect l="0" r="100000" t="0" b="100000"/>
              </a:path>
              <a:tileRect r="0" l="-100000" b="0" t="-100000"/>
            </a:gradFill>
          </p:spPr>
        </p:sp>
        <p:sp>
          <p:nvSpPr>
            <p:cNvPr name="TextBox 17" id="17"/>
            <p:cNvSpPr txBox="true"/>
            <p:nvPr/>
          </p:nvSpPr>
          <p:spPr>
            <a:xfrm>
              <a:off x="0" y="-47625"/>
              <a:ext cx="1341150" cy="1342756"/>
            </a:xfrm>
            <a:prstGeom prst="rect">
              <a:avLst/>
            </a:prstGeom>
          </p:spPr>
          <p:txBody>
            <a:bodyPr anchor="ctr" rtlCol="false" tIns="50800" lIns="50800" bIns="50800" rIns="50800"/>
            <a:lstStyle/>
            <a:p>
              <a:pPr algn="ctr">
                <a:lnSpc>
                  <a:spcPts val="2659"/>
                </a:lnSpc>
              </a:pPr>
            </a:p>
          </p:txBody>
        </p:sp>
      </p:grpSp>
      <p:sp>
        <p:nvSpPr>
          <p:cNvPr name="Freeform 18" id="18"/>
          <p:cNvSpPr/>
          <p:nvPr/>
        </p:nvSpPr>
        <p:spPr>
          <a:xfrm flipH="false" flipV="false" rot="0">
            <a:off x="5495335" y="5801142"/>
            <a:ext cx="4084175" cy="4256884"/>
          </a:xfrm>
          <a:custGeom>
            <a:avLst/>
            <a:gdLst/>
            <a:ahLst/>
            <a:cxnLst/>
            <a:rect r="r" b="b" t="t" l="l"/>
            <a:pathLst>
              <a:path h="4256884" w="4084175">
                <a:moveTo>
                  <a:pt x="0" y="0"/>
                </a:moveTo>
                <a:lnTo>
                  <a:pt x="4084176" y="0"/>
                </a:lnTo>
                <a:lnTo>
                  <a:pt x="4084176" y="4256883"/>
                </a:lnTo>
                <a:lnTo>
                  <a:pt x="0" y="4256883"/>
                </a:lnTo>
                <a:lnTo>
                  <a:pt x="0" y="0"/>
                </a:lnTo>
                <a:close/>
              </a:path>
            </a:pathLst>
          </a:custGeom>
          <a:blipFill>
            <a:blip r:embed="rId6"/>
            <a:stretch>
              <a:fillRect l="0" t="-5754" r="-4205" b="0"/>
            </a:stretch>
          </a:blipFill>
        </p:spPr>
      </p:sp>
      <p:sp>
        <p:nvSpPr>
          <p:cNvPr name="Freeform 19" id="19"/>
          <p:cNvSpPr/>
          <p:nvPr/>
        </p:nvSpPr>
        <p:spPr>
          <a:xfrm flipH="false" flipV="false" rot="0">
            <a:off x="9829496" y="1307758"/>
            <a:ext cx="8258398" cy="8826078"/>
          </a:xfrm>
          <a:custGeom>
            <a:avLst/>
            <a:gdLst/>
            <a:ahLst/>
            <a:cxnLst/>
            <a:rect r="r" b="b" t="t" l="l"/>
            <a:pathLst>
              <a:path h="8826078" w="8258398">
                <a:moveTo>
                  <a:pt x="0" y="0"/>
                </a:moveTo>
                <a:lnTo>
                  <a:pt x="8258398" y="0"/>
                </a:lnTo>
                <a:lnTo>
                  <a:pt x="8258398" y="8826079"/>
                </a:lnTo>
                <a:lnTo>
                  <a:pt x="0" y="8826079"/>
                </a:lnTo>
                <a:lnTo>
                  <a:pt x="0" y="0"/>
                </a:lnTo>
                <a:close/>
              </a:path>
            </a:pathLst>
          </a:custGeom>
          <a:blipFill>
            <a:blip r:embed="rId7"/>
            <a:stretch>
              <a:fillRect l="0" t="0" r="0" b="0"/>
            </a:stretch>
          </a:blipFill>
        </p:spPr>
      </p:sp>
      <p:sp>
        <p:nvSpPr>
          <p:cNvPr name="TextBox 20" id="20"/>
          <p:cNvSpPr txBox="true"/>
          <p:nvPr/>
        </p:nvSpPr>
        <p:spPr>
          <a:xfrm rot="0">
            <a:off x="4312758" y="356215"/>
            <a:ext cx="9137019" cy="1002070"/>
          </a:xfrm>
          <a:prstGeom prst="rect">
            <a:avLst/>
          </a:prstGeom>
        </p:spPr>
        <p:txBody>
          <a:bodyPr anchor="t" rtlCol="false" tIns="0" lIns="0" bIns="0" rIns="0">
            <a:spAutoFit/>
          </a:bodyPr>
          <a:lstStyle/>
          <a:p>
            <a:pPr algn="ctr">
              <a:lnSpc>
                <a:spcPts val="8716"/>
              </a:lnSpc>
              <a:spcBef>
                <a:spcPct val="0"/>
              </a:spcBef>
            </a:pPr>
            <a:r>
              <a:rPr lang="en-US" b="true" sz="4358">
                <a:solidFill>
                  <a:srgbClr val="0044BC"/>
                </a:solidFill>
                <a:latin typeface="Canva Sans Bold"/>
                <a:ea typeface="Canva Sans Bold"/>
                <a:cs typeface="Canva Sans Bold"/>
                <a:sym typeface="Canva Sans Bold"/>
              </a:rPr>
              <a:t>Hasil</a:t>
            </a:r>
          </a:p>
        </p:txBody>
      </p:sp>
      <p:sp>
        <p:nvSpPr>
          <p:cNvPr name="TextBox 21" id="21"/>
          <p:cNvSpPr txBox="true"/>
          <p:nvPr/>
        </p:nvSpPr>
        <p:spPr>
          <a:xfrm rot="0">
            <a:off x="-707811" y="920729"/>
            <a:ext cx="6697760" cy="721320"/>
          </a:xfrm>
          <a:prstGeom prst="rect">
            <a:avLst/>
          </a:prstGeom>
        </p:spPr>
        <p:txBody>
          <a:bodyPr anchor="t" rtlCol="false" tIns="0" lIns="0" bIns="0" rIns="0">
            <a:spAutoFit/>
          </a:bodyPr>
          <a:lstStyle/>
          <a:p>
            <a:pPr algn="ctr">
              <a:lnSpc>
                <a:spcPts val="6389"/>
              </a:lnSpc>
              <a:spcBef>
                <a:spcPct val="0"/>
              </a:spcBef>
            </a:pPr>
            <a:r>
              <a:rPr lang="en-US" b="true" sz="3194">
                <a:solidFill>
                  <a:srgbClr val="0044BC"/>
                </a:solidFill>
                <a:latin typeface="Canva Sans Bold"/>
                <a:ea typeface="Canva Sans Bold"/>
                <a:cs typeface="Canva Sans Bold"/>
                <a:sym typeface="Canva Sans Bold"/>
              </a:rPr>
              <a:t>Visualisasi Data Awal</a:t>
            </a:r>
          </a:p>
        </p:txBody>
      </p:sp>
      <p:sp>
        <p:nvSpPr>
          <p:cNvPr name="TextBox 22" id="22"/>
          <p:cNvSpPr txBox="true"/>
          <p:nvPr/>
        </p:nvSpPr>
        <p:spPr>
          <a:xfrm rot="0">
            <a:off x="4524416" y="4960775"/>
            <a:ext cx="6697760" cy="721320"/>
          </a:xfrm>
          <a:prstGeom prst="rect">
            <a:avLst/>
          </a:prstGeom>
        </p:spPr>
        <p:txBody>
          <a:bodyPr anchor="t" rtlCol="false" tIns="0" lIns="0" bIns="0" rIns="0">
            <a:spAutoFit/>
          </a:bodyPr>
          <a:lstStyle/>
          <a:p>
            <a:pPr algn="ctr">
              <a:lnSpc>
                <a:spcPts val="6389"/>
              </a:lnSpc>
              <a:spcBef>
                <a:spcPct val="0"/>
              </a:spcBef>
            </a:pPr>
            <a:r>
              <a:rPr lang="en-US" b="true" sz="3194">
                <a:solidFill>
                  <a:srgbClr val="0044BC"/>
                </a:solidFill>
                <a:latin typeface="Canva Sans Bold"/>
                <a:ea typeface="Canva Sans Bold"/>
                <a:cs typeface="Canva Sans Bold"/>
                <a:sym typeface="Canva Sans Bold"/>
              </a:rPr>
              <a:t>Statistik Deskriptif</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86746" y="-1406234"/>
            <a:ext cx="19689922" cy="13118410"/>
          </a:xfrm>
          <a:custGeom>
            <a:avLst/>
            <a:gdLst/>
            <a:ahLst/>
            <a:cxnLst/>
            <a:rect r="r" b="b" t="t" l="l"/>
            <a:pathLst>
              <a:path h="13118410" w="19689922">
                <a:moveTo>
                  <a:pt x="0" y="0"/>
                </a:moveTo>
                <a:lnTo>
                  <a:pt x="19689922" y="0"/>
                </a:lnTo>
                <a:lnTo>
                  <a:pt x="19689922" y="13118410"/>
                </a:lnTo>
                <a:lnTo>
                  <a:pt x="0" y="13118410"/>
                </a:lnTo>
                <a:lnTo>
                  <a:pt x="0" y="0"/>
                </a:lnTo>
                <a:close/>
              </a:path>
            </a:pathLst>
          </a:custGeom>
          <a:blipFill>
            <a:blip r:embed="rId2">
              <a:alphaModFix amt="23000"/>
            </a:blip>
            <a:stretch>
              <a:fillRect l="0" t="0" r="0" b="0"/>
            </a:stretch>
          </a:blipFill>
        </p:spPr>
      </p:sp>
      <p:grpSp>
        <p:nvGrpSpPr>
          <p:cNvPr name="Group 3" id="3"/>
          <p:cNvGrpSpPr/>
          <p:nvPr/>
        </p:nvGrpSpPr>
        <p:grpSpPr>
          <a:xfrm rot="6683048">
            <a:off x="15048747" y="-1709620"/>
            <a:ext cx="3832663" cy="3832663"/>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FFFFF">
                    <a:alpha val="100000"/>
                  </a:srgbClr>
                </a:gs>
                <a:gs pos="100000">
                  <a:srgbClr val="99BEFF">
                    <a:alpha val="100000"/>
                  </a:srgbClr>
                </a:gs>
              </a:gsLst>
              <a:path path="circle">
                <a:fillToRect l="0" r="100000" t="0" b="100000"/>
              </a:path>
              <a:tileRect r="0" l="-100000" b="0" t="-100000"/>
            </a:gradFill>
          </p:spPr>
        </p:sp>
        <p:sp>
          <p:nvSpPr>
            <p:cNvPr name="TextBox 5" id="5"/>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5400000">
            <a:off x="2929863" y="-2701193"/>
            <a:ext cx="546451" cy="6406178"/>
            <a:chOff x="0" y="0"/>
            <a:chExt cx="660400" cy="7742029"/>
          </a:xfrm>
        </p:grpSpPr>
        <p:sp>
          <p:nvSpPr>
            <p:cNvPr name="Freeform 7" id="7"/>
            <p:cNvSpPr/>
            <p:nvPr/>
          </p:nvSpPr>
          <p:spPr>
            <a:xfrm flipH="false" flipV="false" rot="0">
              <a:off x="0" y="0"/>
              <a:ext cx="660400" cy="7742028"/>
            </a:xfrm>
            <a:custGeom>
              <a:avLst/>
              <a:gdLst/>
              <a:ahLst/>
              <a:cxnLst/>
              <a:rect r="r" b="b" t="t" l="l"/>
              <a:pathLst>
                <a:path h="7742028" w="660400">
                  <a:moveTo>
                    <a:pt x="220252" y="7722960"/>
                  </a:moveTo>
                  <a:cubicBezTo>
                    <a:pt x="254109" y="7734474"/>
                    <a:pt x="292600" y="7742028"/>
                    <a:pt x="330378" y="7742028"/>
                  </a:cubicBezTo>
                  <a:cubicBezTo>
                    <a:pt x="368157" y="7742028"/>
                    <a:pt x="404509" y="7735552"/>
                    <a:pt x="438009" y="7724038"/>
                  </a:cubicBezTo>
                  <a:cubicBezTo>
                    <a:pt x="438723" y="7723678"/>
                    <a:pt x="439435" y="7723678"/>
                    <a:pt x="440148" y="7723319"/>
                  </a:cubicBezTo>
                  <a:cubicBezTo>
                    <a:pt x="565955" y="7677264"/>
                    <a:pt x="658618" y="7555650"/>
                    <a:pt x="660400" y="7259609"/>
                  </a:cubicBezTo>
                  <a:lnTo>
                    <a:pt x="660400" y="0"/>
                  </a:lnTo>
                  <a:lnTo>
                    <a:pt x="0" y="0"/>
                  </a:lnTo>
                  <a:lnTo>
                    <a:pt x="0" y="7254222"/>
                  </a:lnTo>
                  <a:cubicBezTo>
                    <a:pt x="1782" y="7556368"/>
                    <a:pt x="93019" y="7677984"/>
                    <a:pt x="220252" y="7722960"/>
                  </a:cubicBezTo>
                  <a:close/>
                </a:path>
              </a:pathLst>
            </a:custGeom>
            <a:gradFill rotWithShape="true">
              <a:gsLst>
                <a:gs pos="0">
                  <a:srgbClr val="FFFFFF">
                    <a:alpha val="100000"/>
                  </a:srgbClr>
                </a:gs>
                <a:gs pos="100000">
                  <a:srgbClr val="0045BF">
                    <a:alpha val="100000"/>
                  </a:srgbClr>
                </a:gs>
              </a:gsLst>
              <a:lin ang="5400000"/>
            </a:gradFill>
          </p:spPr>
        </p:sp>
        <p:sp>
          <p:nvSpPr>
            <p:cNvPr name="TextBox 8" id="8"/>
            <p:cNvSpPr txBox="true"/>
            <p:nvPr/>
          </p:nvSpPr>
          <p:spPr>
            <a:xfrm>
              <a:off x="0" y="-47625"/>
              <a:ext cx="660400" cy="7662654"/>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5400000">
            <a:off x="15867688" y="7561343"/>
            <a:ext cx="380455" cy="4460168"/>
            <a:chOff x="0" y="0"/>
            <a:chExt cx="660400" cy="7742029"/>
          </a:xfrm>
        </p:grpSpPr>
        <p:sp>
          <p:nvSpPr>
            <p:cNvPr name="Freeform 10" id="10"/>
            <p:cNvSpPr/>
            <p:nvPr/>
          </p:nvSpPr>
          <p:spPr>
            <a:xfrm flipH="false" flipV="false" rot="0">
              <a:off x="0" y="0"/>
              <a:ext cx="660400" cy="7742028"/>
            </a:xfrm>
            <a:custGeom>
              <a:avLst/>
              <a:gdLst/>
              <a:ahLst/>
              <a:cxnLst/>
              <a:rect r="r" b="b" t="t" l="l"/>
              <a:pathLst>
                <a:path h="7742028" w="660400">
                  <a:moveTo>
                    <a:pt x="220252" y="7722960"/>
                  </a:moveTo>
                  <a:cubicBezTo>
                    <a:pt x="254109" y="7734474"/>
                    <a:pt x="292600" y="7742028"/>
                    <a:pt x="330378" y="7742028"/>
                  </a:cubicBezTo>
                  <a:cubicBezTo>
                    <a:pt x="368157" y="7742028"/>
                    <a:pt x="404509" y="7735552"/>
                    <a:pt x="438009" y="7724038"/>
                  </a:cubicBezTo>
                  <a:cubicBezTo>
                    <a:pt x="438723" y="7723678"/>
                    <a:pt x="439435" y="7723678"/>
                    <a:pt x="440148" y="7723319"/>
                  </a:cubicBezTo>
                  <a:cubicBezTo>
                    <a:pt x="565955" y="7677264"/>
                    <a:pt x="658618" y="7555650"/>
                    <a:pt x="660400" y="7259609"/>
                  </a:cubicBezTo>
                  <a:lnTo>
                    <a:pt x="660400" y="0"/>
                  </a:lnTo>
                  <a:lnTo>
                    <a:pt x="0" y="0"/>
                  </a:lnTo>
                  <a:lnTo>
                    <a:pt x="0" y="7254222"/>
                  </a:lnTo>
                  <a:cubicBezTo>
                    <a:pt x="1782" y="7556368"/>
                    <a:pt x="93019" y="7677984"/>
                    <a:pt x="220252" y="7722960"/>
                  </a:cubicBezTo>
                  <a:close/>
                </a:path>
              </a:pathLst>
            </a:custGeom>
            <a:gradFill rotWithShape="true">
              <a:gsLst>
                <a:gs pos="0">
                  <a:srgbClr val="FFFFFF">
                    <a:alpha val="100000"/>
                  </a:srgbClr>
                </a:gs>
                <a:gs pos="100000">
                  <a:srgbClr val="0045BF">
                    <a:alpha val="100000"/>
                  </a:srgbClr>
                </a:gs>
              </a:gsLst>
              <a:lin ang="5400000"/>
            </a:gradFill>
          </p:spPr>
        </p:sp>
        <p:sp>
          <p:nvSpPr>
            <p:cNvPr name="TextBox 11" id="11"/>
            <p:cNvSpPr txBox="true"/>
            <p:nvPr/>
          </p:nvSpPr>
          <p:spPr>
            <a:xfrm>
              <a:off x="0" y="-47625"/>
              <a:ext cx="660400" cy="7662654"/>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425144" y="2055124"/>
            <a:ext cx="5448118" cy="5275074"/>
            <a:chOff x="0" y="0"/>
            <a:chExt cx="1600548" cy="1549711"/>
          </a:xfrm>
        </p:grpSpPr>
        <p:sp>
          <p:nvSpPr>
            <p:cNvPr name="Freeform 13" id="13"/>
            <p:cNvSpPr/>
            <p:nvPr/>
          </p:nvSpPr>
          <p:spPr>
            <a:xfrm flipH="false" flipV="false" rot="0">
              <a:off x="0" y="0"/>
              <a:ext cx="1600548" cy="1549711"/>
            </a:xfrm>
            <a:custGeom>
              <a:avLst/>
              <a:gdLst/>
              <a:ahLst/>
              <a:cxnLst/>
              <a:rect r="r" b="b" t="t" l="l"/>
              <a:pathLst>
                <a:path h="1549711" w="1600548">
                  <a:moveTo>
                    <a:pt x="89525" y="0"/>
                  </a:moveTo>
                  <a:lnTo>
                    <a:pt x="1511024" y="0"/>
                  </a:lnTo>
                  <a:cubicBezTo>
                    <a:pt x="1560467" y="0"/>
                    <a:pt x="1600548" y="40082"/>
                    <a:pt x="1600548" y="89525"/>
                  </a:cubicBezTo>
                  <a:lnTo>
                    <a:pt x="1600548" y="1460187"/>
                  </a:lnTo>
                  <a:cubicBezTo>
                    <a:pt x="1600548" y="1509630"/>
                    <a:pt x="1560467" y="1549711"/>
                    <a:pt x="1511024" y="1549711"/>
                  </a:cubicBezTo>
                  <a:lnTo>
                    <a:pt x="89525" y="1549711"/>
                  </a:lnTo>
                  <a:cubicBezTo>
                    <a:pt x="40082" y="1549711"/>
                    <a:pt x="0" y="1509630"/>
                    <a:pt x="0" y="1460187"/>
                  </a:cubicBezTo>
                  <a:lnTo>
                    <a:pt x="0" y="89525"/>
                  </a:lnTo>
                  <a:cubicBezTo>
                    <a:pt x="0" y="40082"/>
                    <a:pt x="40082" y="0"/>
                    <a:pt x="89525" y="0"/>
                  </a:cubicBezTo>
                  <a:close/>
                </a:path>
              </a:pathLst>
            </a:custGeom>
            <a:gradFill rotWithShape="true">
              <a:gsLst>
                <a:gs pos="0">
                  <a:srgbClr val="FFFFFF">
                    <a:alpha val="100000"/>
                  </a:srgbClr>
                </a:gs>
                <a:gs pos="100000">
                  <a:srgbClr val="99BEFF">
                    <a:alpha val="100000"/>
                  </a:srgbClr>
                </a:gs>
              </a:gsLst>
              <a:path path="circle">
                <a:fillToRect l="0" r="100000" t="0" b="100000"/>
              </a:path>
              <a:tileRect r="0" l="-100000" b="0" t="-100000"/>
            </a:gradFill>
          </p:spPr>
        </p:sp>
        <p:sp>
          <p:nvSpPr>
            <p:cNvPr name="TextBox 14" id="14"/>
            <p:cNvSpPr txBox="true"/>
            <p:nvPr/>
          </p:nvSpPr>
          <p:spPr>
            <a:xfrm>
              <a:off x="0" y="-47625"/>
              <a:ext cx="1600548" cy="1597336"/>
            </a:xfrm>
            <a:prstGeom prst="rect">
              <a:avLst/>
            </a:prstGeom>
          </p:spPr>
          <p:txBody>
            <a:bodyPr anchor="ctr" rtlCol="false" tIns="50800" lIns="50800" bIns="50800" rIns="50800"/>
            <a:lstStyle/>
            <a:p>
              <a:pPr algn="ctr">
                <a:lnSpc>
                  <a:spcPts val="2659"/>
                </a:lnSpc>
              </a:pPr>
            </a:p>
          </p:txBody>
        </p:sp>
      </p:grpSp>
      <p:sp>
        <p:nvSpPr>
          <p:cNvPr name="Freeform 15" id="15"/>
          <p:cNvSpPr/>
          <p:nvPr/>
        </p:nvSpPr>
        <p:spPr>
          <a:xfrm flipH="false" flipV="false" rot="0">
            <a:off x="595535" y="2055124"/>
            <a:ext cx="5215108" cy="5215108"/>
          </a:xfrm>
          <a:custGeom>
            <a:avLst/>
            <a:gdLst/>
            <a:ahLst/>
            <a:cxnLst/>
            <a:rect r="r" b="b" t="t" l="l"/>
            <a:pathLst>
              <a:path h="5215108" w="5215108">
                <a:moveTo>
                  <a:pt x="0" y="0"/>
                </a:moveTo>
                <a:lnTo>
                  <a:pt x="5215108" y="0"/>
                </a:lnTo>
                <a:lnTo>
                  <a:pt x="5215108" y="5215107"/>
                </a:lnTo>
                <a:lnTo>
                  <a:pt x="0" y="5215107"/>
                </a:lnTo>
                <a:lnTo>
                  <a:pt x="0" y="0"/>
                </a:lnTo>
                <a:close/>
              </a:path>
            </a:pathLst>
          </a:custGeom>
          <a:blipFill>
            <a:blip r:embed="rId3"/>
            <a:stretch>
              <a:fillRect l="0" t="0" r="0" b="0"/>
            </a:stretch>
          </a:blipFill>
        </p:spPr>
      </p:sp>
      <p:sp>
        <p:nvSpPr>
          <p:cNvPr name="TextBox 16" id="16"/>
          <p:cNvSpPr txBox="true"/>
          <p:nvPr/>
        </p:nvSpPr>
        <p:spPr>
          <a:xfrm rot="0">
            <a:off x="-686746" y="1243381"/>
            <a:ext cx="7671897" cy="630555"/>
          </a:xfrm>
          <a:prstGeom prst="rect">
            <a:avLst/>
          </a:prstGeom>
        </p:spPr>
        <p:txBody>
          <a:bodyPr anchor="t" rtlCol="false" tIns="0" lIns="0" bIns="0" rIns="0">
            <a:spAutoFit/>
          </a:bodyPr>
          <a:lstStyle/>
          <a:p>
            <a:pPr algn="ctr">
              <a:lnSpc>
                <a:spcPts val="5400"/>
              </a:lnSpc>
              <a:spcBef>
                <a:spcPct val="0"/>
              </a:spcBef>
            </a:pPr>
            <a:r>
              <a:rPr lang="en-US" b="true" sz="2700">
                <a:solidFill>
                  <a:srgbClr val="0044BC"/>
                </a:solidFill>
                <a:latin typeface="Canva Sans Bold"/>
                <a:ea typeface="Canva Sans Bold"/>
                <a:cs typeface="Canva Sans Bold"/>
                <a:sym typeface="Canva Sans Bold"/>
              </a:rPr>
              <a:t> Inverse-Transform Method</a:t>
            </a:r>
          </a:p>
        </p:txBody>
      </p:sp>
      <p:sp>
        <p:nvSpPr>
          <p:cNvPr name="TextBox 17" id="17"/>
          <p:cNvSpPr txBox="true"/>
          <p:nvPr/>
        </p:nvSpPr>
        <p:spPr>
          <a:xfrm rot="0">
            <a:off x="4767957" y="1243381"/>
            <a:ext cx="7671897" cy="630555"/>
          </a:xfrm>
          <a:prstGeom prst="rect">
            <a:avLst/>
          </a:prstGeom>
        </p:spPr>
        <p:txBody>
          <a:bodyPr anchor="t" rtlCol="false" tIns="0" lIns="0" bIns="0" rIns="0">
            <a:spAutoFit/>
          </a:bodyPr>
          <a:lstStyle/>
          <a:p>
            <a:pPr algn="ctr">
              <a:lnSpc>
                <a:spcPts val="5400"/>
              </a:lnSpc>
              <a:spcBef>
                <a:spcPct val="0"/>
              </a:spcBef>
            </a:pPr>
            <a:r>
              <a:rPr lang="en-US" b="true" sz="2700">
                <a:solidFill>
                  <a:srgbClr val="0044BC"/>
                </a:solidFill>
                <a:latin typeface="Canva Sans Bold"/>
                <a:ea typeface="Canva Sans Bold"/>
                <a:cs typeface="Canva Sans Bold"/>
                <a:sym typeface="Canva Sans Bold"/>
              </a:rPr>
              <a:t>Acceptance-rejection Method</a:t>
            </a:r>
          </a:p>
        </p:txBody>
      </p:sp>
      <p:grpSp>
        <p:nvGrpSpPr>
          <p:cNvPr name="Group 18" id="18"/>
          <p:cNvGrpSpPr/>
          <p:nvPr/>
        </p:nvGrpSpPr>
        <p:grpSpPr>
          <a:xfrm rot="0">
            <a:off x="6118163" y="1995157"/>
            <a:ext cx="5448118" cy="5275074"/>
            <a:chOff x="0" y="0"/>
            <a:chExt cx="1600548" cy="1549711"/>
          </a:xfrm>
        </p:grpSpPr>
        <p:sp>
          <p:nvSpPr>
            <p:cNvPr name="Freeform 19" id="19"/>
            <p:cNvSpPr/>
            <p:nvPr/>
          </p:nvSpPr>
          <p:spPr>
            <a:xfrm flipH="false" flipV="false" rot="0">
              <a:off x="0" y="0"/>
              <a:ext cx="1600548" cy="1549711"/>
            </a:xfrm>
            <a:custGeom>
              <a:avLst/>
              <a:gdLst/>
              <a:ahLst/>
              <a:cxnLst/>
              <a:rect r="r" b="b" t="t" l="l"/>
              <a:pathLst>
                <a:path h="1549711" w="1600548">
                  <a:moveTo>
                    <a:pt x="89525" y="0"/>
                  </a:moveTo>
                  <a:lnTo>
                    <a:pt x="1511024" y="0"/>
                  </a:lnTo>
                  <a:cubicBezTo>
                    <a:pt x="1560467" y="0"/>
                    <a:pt x="1600548" y="40082"/>
                    <a:pt x="1600548" y="89525"/>
                  </a:cubicBezTo>
                  <a:lnTo>
                    <a:pt x="1600548" y="1460187"/>
                  </a:lnTo>
                  <a:cubicBezTo>
                    <a:pt x="1600548" y="1509630"/>
                    <a:pt x="1560467" y="1549711"/>
                    <a:pt x="1511024" y="1549711"/>
                  </a:cubicBezTo>
                  <a:lnTo>
                    <a:pt x="89525" y="1549711"/>
                  </a:lnTo>
                  <a:cubicBezTo>
                    <a:pt x="40082" y="1549711"/>
                    <a:pt x="0" y="1509630"/>
                    <a:pt x="0" y="1460187"/>
                  </a:cubicBezTo>
                  <a:lnTo>
                    <a:pt x="0" y="89525"/>
                  </a:lnTo>
                  <a:cubicBezTo>
                    <a:pt x="0" y="40082"/>
                    <a:pt x="40082" y="0"/>
                    <a:pt x="89525" y="0"/>
                  </a:cubicBezTo>
                  <a:close/>
                </a:path>
              </a:pathLst>
            </a:custGeom>
            <a:gradFill rotWithShape="true">
              <a:gsLst>
                <a:gs pos="0">
                  <a:srgbClr val="FFFFFF">
                    <a:alpha val="100000"/>
                  </a:srgbClr>
                </a:gs>
                <a:gs pos="100000">
                  <a:srgbClr val="99BEFF">
                    <a:alpha val="100000"/>
                  </a:srgbClr>
                </a:gs>
              </a:gsLst>
              <a:path path="circle">
                <a:fillToRect l="0" r="100000" t="0" b="100000"/>
              </a:path>
              <a:tileRect r="0" l="-100000" b="0" t="-100000"/>
            </a:gradFill>
          </p:spPr>
        </p:sp>
        <p:sp>
          <p:nvSpPr>
            <p:cNvPr name="TextBox 20" id="20"/>
            <p:cNvSpPr txBox="true"/>
            <p:nvPr/>
          </p:nvSpPr>
          <p:spPr>
            <a:xfrm>
              <a:off x="0" y="-47625"/>
              <a:ext cx="1600548" cy="1597336"/>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11811182" y="1950349"/>
            <a:ext cx="5448118" cy="5275074"/>
            <a:chOff x="0" y="0"/>
            <a:chExt cx="1600548" cy="1549711"/>
          </a:xfrm>
        </p:grpSpPr>
        <p:sp>
          <p:nvSpPr>
            <p:cNvPr name="Freeform 22" id="22"/>
            <p:cNvSpPr/>
            <p:nvPr/>
          </p:nvSpPr>
          <p:spPr>
            <a:xfrm flipH="false" flipV="false" rot="0">
              <a:off x="0" y="0"/>
              <a:ext cx="1600548" cy="1549711"/>
            </a:xfrm>
            <a:custGeom>
              <a:avLst/>
              <a:gdLst/>
              <a:ahLst/>
              <a:cxnLst/>
              <a:rect r="r" b="b" t="t" l="l"/>
              <a:pathLst>
                <a:path h="1549711" w="1600548">
                  <a:moveTo>
                    <a:pt x="89525" y="0"/>
                  </a:moveTo>
                  <a:lnTo>
                    <a:pt x="1511024" y="0"/>
                  </a:lnTo>
                  <a:cubicBezTo>
                    <a:pt x="1560467" y="0"/>
                    <a:pt x="1600548" y="40082"/>
                    <a:pt x="1600548" y="89525"/>
                  </a:cubicBezTo>
                  <a:lnTo>
                    <a:pt x="1600548" y="1460187"/>
                  </a:lnTo>
                  <a:cubicBezTo>
                    <a:pt x="1600548" y="1509630"/>
                    <a:pt x="1560467" y="1549711"/>
                    <a:pt x="1511024" y="1549711"/>
                  </a:cubicBezTo>
                  <a:lnTo>
                    <a:pt x="89525" y="1549711"/>
                  </a:lnTo>
                  <a:cubicBezTo>
                    <a:pt x="40082" y="1549711"/>
                    <a:pt x="0" y="1509630"/>
                    <a:pt x="0" y="1460187"/>
                  </a:cubicBezTo>
                  <a:lnTo>
                    <a:pt x="0" y="89525"/>
                  </a:lnTo>
                  <a:cubicBezTo>
                    <a:pt x="0" y="40082"/>
                    <a:pt x="40082" y="0"/>
                    <a:pt x="89525" y="0"/>
                  </a:cubicBezTo>
                  <a:close/>
                </a:path>
              </a:pathLst>
            </a:custGeom>
            <a:gradFill rotWithShape="true">
              <a:gsLst>
                <a:gs pos="0">
                  <a:srgbClr val="FFFFFF">
                    <a:alpha val="100000"/>
                  </a:srgbClr>
                </a:gs>
                <a:gs pos="100000">
                  <a:srgbClr val="99BEFF">
                    <a:alpha val="100000"/>
                  </a:srgbClr>
                </a:gs>
              </a:gsLst>
              <a:path path="circle">
                <a:fillToRect l="0" r="100000" t="0" b="100000"/>
              </a:path>
              <a:tileRect r="0" l="-100000" b="0" t="-100000"/>
            </a:gradFill>
          </p:spPr>
        </p:sp>
        <p:sp>
          <p:nvSpPr>
            <p:cNvPr name="TextBox 23" id="23"/>
            <p:cNvSpPr txBox="true"/>
            <p:nvPr/>
          </p:nvSpPr>
          <p:spPr>
            <a:xfrm>
              <a:off x="0" y="-47625"/>
              <a:ext cx="1600548" cy="1597336"/>
            </a:xfrm>
            <a:prstGeom prst="rect">
              <a:avLst/>
            </a:prstGeom>
          </p:spPr>
          <p:txBody>
            <a:bodyPr anchor="ctr" rtlCol="false" tIns="50800" lIns="50800" bIns="50800" rIns="50800"/>
            <a:lstStyle/>
            <a:p>
              <a:pPr algn="ctr">
                <a:lnSpc>
                  <a:spcPts val="2659"/>
                </a:lnSpc>
              </a:pPr>
            </a:p>
          </p:txBody>
        </p:sp>
      </p:grpSp>
      <p:sp>
        <p:nvSpPr>
          <p:cNvPr name="Freeform 24" id="24"/>
          <p:cNvSpPr/>
          <p:nvPr/>
        </p:nvSpPr>
        <p:spPr>
          <a:xfrm flipH="false" flipV="false" rot="0">
            <a:off x="6172233" y="1962705"/>
            <a:ext cx="5339978" cy="5339978"/>
          </a:xfrm>
          <a:custGeom>
            <a:avLst/>
            <a:gdLst/>
            <a:ahLst/>
            <a:cxnLst/>
            <a:rect r="r" b="b" t="t" l="l"/>
            <a:pathLst>
              <a:path h="5339978" w="5339978">
                <a:moveTo>
                  <a:pt x="0" y="0"/>
                </a:moveTo>
                <a:lnTo>
                  <a:pt x="5339978" y="0"/>
                </a:lnTo>
                <a:lnTo>
                  <a:pt x="5339978" y="5339978"/>
                </a:lnTo>
                <a:lnTo>
                  <a:pt x="0" y="5339978"/>
                </a:lnTo>
                <a:lnTo>
                  <a:pt x="0" y="0"/>
                </a:lnTo>
                <a:close/>
              </a:path>
            </a:pathLst>
          </a:custGeom>
          <a:blipFill>
            <a:blip r:embed="rId4"/>
            <a:stretch>
              <a:fillRect l="0" t="0" r="0" b="0"/>
            </a:stretch>
          </a:blipFill>
        </p:spPr>
      </p:sp>
      <p:sp>
        <p:nvSpPr>
          <p:cNvPr name="Freeform 25" id="25"/>
          <p:cNvSpPr/>
          <p:nvPr/>
        </p:nvSpPr>
        <p:spPr>
          <a:xfrm flipH="false" flipV="false" rot="0">
            <a:off x="11871081" y="1962705"/>
            <a:ext cx="5399945" cy="5399945"/>
          </a:xfrm>
          <a:custGeom>
            <a:avLst/>
            <a:gdLst/>
            <a:ahLst/>
            <a:cxnLst/>
            <a:rect r="r" b="b" t="t" l="l"/>
            <a:pathLst>
              <a:path h="5399945" w="5399945">
                <a:moveTo>
                  <a:pt x="0" y="0"/>
                </a:moveTo>
                <a:lnTo>
                  <a:pt x="5399945" y="0"/>
                </a:lnTo>
                <a:lnTo>
                  <a:pt x="5399945" y="5399945"/>
                </a:lnTo>
                <a:lnTo>
                  <a:pt x="0" y="5399945"/>
                </a:lnTo>
                <a:lnTo>
                  <a:pt x="0" y="0"/>
                </a:lnTo>
                <a:close/>
              </a:path>
            </a:pathLst>
          </a:custGeom>
          <a:blipFill>
            <a:blip r:embed="rId5"/>
            <a:stretch>
              <a:fillRect l="0" t="0" r="0" b="0"/>
            </a:stretch>
          </a:blipFill>
        </p:spPr>
      </p:sp>
      <p:sp>
        <p:nvSpPr>
          <p:cNvPr name="TextBox 26" id="26"/>
          <p:cNvSpPr txBox="true"/>
          <p:nvPr/>
        </p:nvSpPr>
        <p:spPr>
          <a:xfrm rot="0">
            <a:off x="4767957" y="356215"/>
            <a:ext cx="9137019" cy="1002070"/>
          </a:xfrm>
          <a:prstGeom prst="rect">
            <a:avLst/>
          </a:prstGeom>
        </p:spPr>
        <p:txBody>
          <a:bodyPr anchor="t" rtlCol="false" tIns="0" lIns="0" bIns="0" rIns="0">
            <a:spAutoFit/>
          </a:bodyPr>
          <a:lstStyle/>
          <a:p>
            <a:pPr algn="ctr">
              <a:lnSpc>
                <a:spcPts val="8716"/>
              </a:lnSpc>
              <a:spcBef>
                <a:spcPct val="0"/>
              </a:spcBef>
            </a:pPr>
            <a:r>
              <a:rPr lang="en-US" b="true" sz="4358">
                <a:solidFill>
                  <a:srgbClr val="0044BC"/>
                </a:solidFill>
                <a:latin typeface="Canva Sans Bold"/>
                <a:ea typeface="Canva Sans Bold"/>
                <a:cs typeface="Canva Sans Bold"/>
                <a:sym typeface="Canva Sans Bold"/>
              </a:rPr>
              <a:t>Hasil</a:t>
            </a:r>
          </a:p>
        </p:txBody>
      </p:sp>
      <p:sp>
        <p:nvSpPr>
          <p:cNvPr name="TextBox 27" id="27"/>
          <p:cNvSpPr txBox="true"/>
          <p:nvPr/>
        </p:nvSpPr>
        <p:spPr>
          <a:xfrm rot="0">
            <a:off x="10645993" y="1139210"/>
            <a:ext cx="7671897" cy="630555"/>
          </a:xfrm>
          <a:prstGeom prst="rect">
            <a:avLst/>
          </a:prstGeom>
        </p:spPr>
        <p:txBody>
          <a:bodyPr anchor="t" rtlCol="false" tIns="0" lIns="0" bIns="0" rIns="0">
            <a:spAutoFit/>
          </a:bodyPr>
          <a:lstStyle/>
          <a:p>
            <a:pPr algn="ctr">
              <a:lnSpc>
                <a:spcPts val="5400"/>
              </a:lnSpc>
              <a:spcBef>
                <a:spcPct val="0"/>
              </a:spcBef>
            </a:pPr>
            <a:r>
              <a:rPr lang="en-US" b="true" sz="2700">
                <a:solidFill>
                  <a:srgbClr val="0044BC"/>
                </a:solidFill>
                <a:latin typeface="Canva Sans Bold"/>
                <a:ea typeface="Canva Sans Bold"/>
                <a:cs typeface="Canva Sans Bold"/>
                <a:sym typeface="Canva Sans Bold"/>
              </a:rPr>
              <a:t>Direction Transformation</a:t>
            </a:r>
          </a:p>
        </p:txBody>
      </p:sp>
      <p:grpSp>
        <p:nvGrpSpPr>
          <p:cNvPr name="Group 28" id="28"/>
          <p:cNvGrpSpPr/>
          <p:nvPr/>
        </p:nvGrpSpPr>
        <p:grpSpPr>
          <a:xfrm rot="0">
            <a:off x="479030" y="7701400"/>
            <a:ext cx="5448118" cy="2280255"/>
            <a:chOff x="0" y="0"/>
            <a:chExt cx="1600548" cy="669893"/>
          </a:xfrm>
        </p:grpSpPr>
        <p:sp>
          <p:nvSpPr>
            <p:cNvPr name="Freeform 29" id="29"/>
            <p:cNvSpPr/>
            <p:nvPr/>
          </p:nvSpPr>
          <p:spPr>
            <a:xfrm flipH="false" flipV="false" rot="0">
              <a:off x="0" y="0"/>
              <a:ext cx="1600548" cy="669893"/>
            </a:xfrm>
            <a:custGeom>
              <a:avLst/>
              <a:gdLst/>
              <a:ahLst/>
              <a:cxnLst/>
              <a:rect r="r" b="b" t="t" l="l"/>
              <a:pathLst>
                <a:path h="669893" w="1600548">
                  <a:moveTo>
                    <a:pt x="89525" y="0"/>
                  </a:moveTo>
                  <a:lnTo>
                    <a:pt x="1511024" y="0"/>
                  </a:lnTo>
                  <a:cubicBezTo>
                    <a:pt x="1560467" y="0"/>
                    <a:pt x="1600548" y="40082"/>
                    <a:pt x="1600548" y="89525"/>
                  </a:cubicBezTo>
                  <a:lnTo>
                    <a:pt x="1600548" y="580369"/>
                  </a:lnTo>
                  <a:cubicBezTo>
                    <a:pt x="1600548" y="629812"/>
                    <a:pt x="1560467" y="669893"/>
                    <a:pt x="1511024" y="669893"/>
                  </a:cubicBezTo>
                  <a:lnTo>
                    <a:pt x="89525" y="669893"/>
                  </a:lnTo>
                  <a:cubicBezTo>
                    <a:pt x="40082" y="669893"/>
                    <a:pt x="0" y="629812"/>
                    <a:pt x="0" y="580369"/>
                  </a:cubicBezTo>
                  <a:lnTo>
                    <a:pt x="0" y="89525"/>
                  </a:lnTo>
                  <a:cubicBezTo>
                    <a:pt x="0" y="40082"/>
                    <a:pt x="40082" y="0"/>
                    <a:pt x="89525" y="0"/>
                  </a:cubicBezTo>
                  <a:close/>
                </a:path>
              </a:pathLst>
            </a:custGeom>
            <a:solidFill>
              <a:srgbClr val="0044BC"/>
            </a:solidFill>
          </p:spPr>
        </p:sp>
        <p:sp>
          <p:nvSpPr>
            <p:cNvPr name="TextBox 30" id="30"/>
            <p:cNvSpPr txBox="true"/>
            <p:nvPr/>
          </p:nvSpPr>
          <p:spPr>
            <a:xfrm>
              <a:off x="0" y="-47625"/>
              <a:ext cx="1600548" cy="717518"/>
            </a:xfrm>
            <a:prstGeom prst="rect">
              <a:avLst/>
            </a:prstGeom>
          </p:spPr>
          <p:txBody>
            <a:bodyPr anchor="ctr" rtlCol="false" tIns="50800" lIns="50800" bIns="50800" rIns="50800"/>
            <a:lstStyle/>
            <a:p>
              <a:pPr algn="ctr">
                <a:lnSpc>
                  <a:spcPts val="2659"/>
                </a:lnSpc>
              </a:pPr>
              <a:r>
                <a:rPr lang="en-US" sz="1899">
                  <a:solidFill>
                    <a:srgbClr val="FFFFFF"/>
                  </a:solidFill>
                  <a:latin typeface="Antic"/>
                  <a:ea typeface="Antic"/>
                  <a:cs typeface="Antic"/>
                  <a:sym typeface="Antic"/>
                </a:rPr>
                <a:t>Metode Inverse Transform membangkitkan data acak dengan parameter Negatif Binomial yang menghasilkan sebaran sangat mirip data asli, dan pada simulasi besar juga memberi mean serta variansi paling mendekati parameter sebenarnya.</a:t>
              </a:r>
            </a:p>
            <a:p>
              <a:pPr algn="ctr">
                <a:lnSpc>
                  <a:spcPts val="2659"/>
                </a:lnSpc>
              </a:pPr>
            </a:p>
          </p:txBody>
        </p:sp>
      </p:grpSp>
      <p:grpSp>
        <p:nvGrpSpPr>
          <p:cNvPr name="Group 31" id="31"/>
          <p:cNvGrpSpPr/>
          <p:nvPr/>
        </p:nvGrpSpPr>
        <p:grpSpPr>
          <a:xfrm rot="0">
            <a:off x="6121086" y="7438850"/>
            <a:ext cx="5445195" cy="2595963"/>
            <a:chOff x="0" y="0"/>
            <a:chExt cx="1599689" cy="762642"/>
          </a:xfrm>
        </p:grpSpPr>
        <p:sp>
          <p:nvSpPr>
            <p:cNvPr name="Freeform 32" id="32"/>
            <p:cNvSpPr/>
            <p:nvPr/>
          </p:nvSpPr>
          <p:spPr>
            <a:xfrm flipH="false" flipV="false" rot="0">
              <a:off x="0" y="0"/>
              <a:ext cx="1599689" cy="762642"/>
            </a:xfrm>
            <a:custGeom>
              <a:avLst/>
              <a:gdLst/>
              <a:ahLst/>
              <a:cxnLst/>
              <a:rect r="r" b="b" t="t" l="l"/>
              <a:pathLst>
                <a:path h="762642" w="1599689">
                  <a:moveTo>
                    <a:pt x="89573" y="0"/>
                  </a:moveTo>
                  <a:lnTo>
                    <a:pt x="1510117" y="0"/>
                  </a:lnTo>
                  <a:cubicBezTo>
                    <a:pt x="1559586" y="0"/>
                    <a:pt x="1599689" y="40103"/>
                    <a:pt x="1599689" y="89573"/>
                  </a:cubicBezTo>
                  <a:lnTo>
                    <a:pt x="1599689" y="673069"/>
                  </a:lnTo>
                  <a:cubicBezTo>
                    <a:pt x="1599689" y="696826"/>
                    <a:pt x="1590252" y="719609"/>
                    <a:pt x="1573454" y="736407"/>
                  </a:cubicBezTo>
                  <a:cubicBezTo>
                    <a:pt x="1556656" y="753205"/>
                    <a:pt x="1533873" y="762642"/>
                    <a:pt x="1510117" y="762642"/>
                  </a:cubicBezTo>
                  <a:lnTo>
                    <a:pt x="89573" y="762642"/>
                  </a:lnTo>
                  <a:cubicBezTo>
                    <a:pt x="40103" y="762642"/>
                    <a:pt x="0" y="722539"/>
                    <a:pt x="0" y="673069"/>
                  </a:cubicBezTo>
                  <a:lnTo>
                    <a:pt x="0" y="89573"/>
                  </a:lnTo>
                  <a:cubicBezTo>
                    <a:pt x="0" y="40103"/>
                    <a:pt x="40103" y="0"/>
                    <a:pt x="89573" y="0"/>
                  </a:cubicBezTo>
                  <a:close/>
                </a:path>
              </a:pathLst>
            </a:custGeom>
            <a:solidFill>
              <a:srgbClr val="0044BC"/>
            </a:solidFill>
          </p:spPr>
        </p:sp>
        <p:sp>
          <p:nvSpPr>
            <p:cNvPr name="TextBox 33" id="33"/>
            <p:cNvSpPr txBox="true"/>
            <p:nvPr/>
          </p:nvSpPr>
          <p:spPr>
            <a:xfrm>
              <a:off x="0" y="-47625"/>
              <a:ext cx="1599689" cy="810267"/>
            </a:xfrm>
            <a:prstGeom prst="rect">
              <a:avLst/>
            </a:prstGeom>
          </p:spPr>
          <p:txBody>
            <a:bodyPr anchor="ctr" rtlCol="false" tIns="50800" lIns="50800" bIns="50800" rIns="50800"/>
            <a:lstStyle/>
            <a:p>
              <a:pPr algn="ctr">
                <a:lnSpc>
                  <a:spcPts val="2659"/>
                </a:lnSpc>
              </a:pPr>
              <a:r>
                <a:rPr lang="en-US" sz="1899">
                  <a:solidFill>
                    <a:srgbClr val="FFFFFF"/>
                  </a:solidFill>
                  <a:latin typeface="Antic"/>
                  <a:ea typeface="Antic"/>
                  <a:cs typeface="Antic"/>
                  <a:sym typeface="Antic"/>
                </a:rPr>
                <a:t>Metode Acceptance-Rejection menghasilkan 22 sampel dari 70 percobaan dengan efisiensi 31.43 persen, tetap membentuk sebaran yang mirip data asli, dan pada simulasi besar memberikan mean serta variansi yang cukup dekat meski masih di bawah akurasi Inverse Transform.</a:t>
              </a:r>
            </a:p>
            <a:p>
              <a:pPr algn="ctr">
                <a:lnSpc>
                  <a:spcPts val="2659"/>
                </a:lnSpc>
              </a:pPr>
            </a:p>
          </p:txBody>
        </p:sp>
      </p:grpSp>
      <p:grpSp>
        <p:nvGrpSpPr>
          <p:cNvPr name="Group 34" id="34"/>
          <p:cNvGrpSpPr/>
          <p:nvPr/>
        </p:nvGrpSpPr>
        <p:grpSpPr>
          <a:xfrm rot="0">
            <a:off x="11871081" y="7448375"/>
            <a:ext cx="5445195" cy="2595963"/>
            <a:chOff x="0" y="0"/>
            <a:chExt cx="1599689" cy="762642"/>
          </a:xfrm>
        </p:grpSpPr>
        <p:sp>
          <p:nvSpPr>
            <p:cNvPr name="Freeform 35" id="35"/>
            <p:cNvSpPr/>
            <p:nvPr/>
          </p:nvSpPr>
          <p:spPr>
            <a:xfrm flipH="false" flipV="false" rot="0">
              <a:off x="0" y="0"/>
              <a:ext cx="1599689" cy="762642"/>
            </a:xfrm>
            <a:custGeom>
              <a:avLst/>
              <a:gdLst/>
              <a:ahLst/>
              <a:cxnLst/>
              <a:rect r="r" b="b" t="t" l="l"/>
              <a:pathLst>
                <a:path h="762642" w="1599689">
                  <a:moveTo>
                    <a:pt x="89573" y="0"/>
                  </a:moveTo>
                  <a:lnTo>
                    <a:pt x="1510117" y="0"/>
                  </a:lnTo>
                  <a:cubicBezTo>
                    <a:pt x="1559586" y="0"/>
                    <a:pt x="1599689" y="40103"/>
                    <a:pt x="1599689" y="89573"/>
                  </a:cubicBezTo>
                  <a:lnTo>
                    <a:pt x="1599689" y="673069"/>
                  </a:lnTo>
                  <a:cubicBezTo>
                    <a:pt x="1599689" y="696826"/>
                    <a:pt x="1590252" y="719609"/>
                    <a:pt x="1573454" y="736407"/>
                  </a:cubicBezTo>
                  <a:cubicBezTo>
                    <a:pt x="1556656" y="753205"/>
                    <a:pt x="1533873" y="762642"/>
                    <a:pt x="1510117" y="762642"/>
                  </a:cubicBezTo>
                  <a:lnTo>
                    <a:pt x="89573" y="762642"/>
                  </a:lnTo>
                  <a:cubicBezTo>
                    <a:pt x="40103" y="762642"/>
                    <a:pt x="0" y="722539"/>
                    <a:pt x="0" y="673069"/>
                  </a:cubicBezTo>
                  <a:lnTo>
                    <a:pt x="0" y="89573"/>
                  </a:lnTo>
                  <a:cubicBezTo>
                    <a:pt x="0" y="40103"/>
                    <a:pt x="40103" y="0"/>
                    <a:pt x="89573" y="0"/>
                  </a:cubicBezTo>
                  <a:close/>
                </a:path>
              </a:pathLst>
            </a:custGeom>
            <a:solidFill>
              <a:srgbClr val="0044BC"/>
            </a:solidFill>
          </p:spPr>
        </p:sp>
        <p:sp>
          <p:nvSpPr>
            <p:cNvPr name="TextBox 36" id="36"/>
            <p:cNvSpPr txBox="true"/>
            <p:nvPr/>
          </p:nvSpPr>
          <p:spPr>
            <a:xfrm>
              <a:off x="0" y="-47625"/>
              <a:ext cx="1599689" cy="810267"/>
            </a:xfrm>
            <a:prstGeom prst="rect">
              <a:avLst/>
            </a:prstGeom>
          </p:spPr>
          <p:txBody>
            <a:bodyPr anchor="ctr" rtlCol="false" tIns="50800" lIns="50800" bIns="50800" rIns="50800"/>
            <a:lstStyle/>
            <a:p>
              <a:pPr algn="ctr">
                <a:lnSpc>
                  <a:spcPts val="2659"/>
                </a:lnSpc>
              </a:pPr>
              <a:r>
                <a:rPr lang="en-US" sz="1899">
                  <a:solidFill>
                    <a:srgbClr val="FFFFFF"/>
                  </a:solidFill>
                  <a:latin typeface="Antic"/>
                  <a:ea typeface="Antic"/>
                  <a:cs typeface="Antic"/>
                  <a:sym typeface="Antic"/>
                </a:rPr>
                <a:t>Metode Direct (Bernoulli) menghasilkan sebaran yang lebih menyimpang dari data asli, dengan rata-rata yang bergeser dan pola distribusi yang kurang akurat. Pada simulasi 10.000 data, metode ini menunjukkan deviasi mean dan variansi terbesar dibanding dua metode lainnya.</a:t>
              </a:r>
            </a:p>
            <a:p>
              <a:pPr algn="ctr">
                <a:lnSpc>
                  <a:spcPts val="2659"/>
                </a:lnSpc>
              </a:pP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86746" y="-1406234"/>
            <a:ext cx="19689922" cy="13118410"/>
          </a:xfrm>
          <a:custGeom>
            <a:avLst/>
            <a:gdLst/>
            <a:ahLst/>
            <a:cxnLst/>
            <a:rect r="r" b="b" t="t" l="l"/>
            <a:pathLst>
              <a:path h="13118410" w="19689922">
                <a:moveTo>
                  <a:pt x="0" y="0"/>
                </a:moveTo>
                <a:lnTo>
                  <a:pt x="19689922" y="0"/>
                </a:lnTo>
                <a:lnTo>
                  <a:pt x="19689922" y="13118410"/>
                </a:lnTo>
                <a:lnTo>
                  <a:pt x="0" y="13118410"/>
                </a:lnTo>
                <a:lnTo>
                  <a:pt x="0" y="0"/>
                </a:lnTo>
                <a:close/>
              </a:path>
            </a:pathLst>
          </a:custGeom>
          <a:blipFill>
            <a:blip r:embed="rId2">
              <a:alphaModFix amt="23000"/>
            </a:blip>
            <a:stretch>
              <a:fillRect l="0" t="0" r="0" b="0"/>
            </a:stretch>
          </a:blipFill>
        </p:spPr>
      </p:sp>
      <p:grpSp>
        <p:nvGrpSpPr>
          <p:cNvPr name="Group 3" id="3"/>
          <p:cNvGrpSpPr/>
          <p:nvPr/>
        </p:nvGrpSpPr>
        <p:grpSpPr>
          <a:xfrm rot="6683048">
            <a:off x="15048747" y="-1709620"/>
            <a:ext cx="3832663" cy="3832663"/>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FFFFF">
                    <a:alpha val="100000"/>
                  </a:srgbClr>
                </a:gs>
                <a:gs pos="100000">
                  <a:srgbClr val="99BEFF">
                    <a:alpha val="100000"/>
                  </a:srgbClr>
                </a:gs>
              </a:gsLst>
              <a:path path="circle">
                <a:fillToRect l="0" r="100000" t="0" b="100000"/>
              </a:path>
              <a:tileRect r="0" l="-100000" b="0" t="-100000"/>
            </a:gradFill>
          </p:spPr>
        </p:sp>
        <p:sp>
          <p:nvSpPr>
            <p:cNvPr name="TextBox 5" id="5"/>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5400000">
            <a:off x="2929863" y="-2701193"/>
            <a:ext cx="546451" cy="6406178"/>
            <a:chOff x="0" y="0"/>
            <a:chExt cx="660400" cy="7742029"/>
          </a:xfrm>
        </p:grpSpPr>
        <p:sp>
          <p:nvSpPr>
            <p:cNvPr name="Freeform 7" id="7"/>
            <p:cNvSpPr/>
            <p:nvPr/>
          </p:nvSpPr>
          <p:spPr>
            <a:xfrm flipH="false" flipV="false" rot="0">
              <a:off x="0" y="0"/>
              <a:ext cx="660400" cy="7742028"/>
            </a:xfrm>
            <a:custGeom>
              <a:avLst/>
              <a:gdLst/>
              <a:ahLst/>
              <a:cxnLst/>
              <a:rect r="r" b="b" t="t" l="l"/>
              <a:pathLst>
                <a:path h="7742028" w="660400">
                  <a:moveTo>
                    <a:pt x="220252" y="7722960"/>
                  </a:moveTo>
                  <a:cubicBezTo>
                    <a:pt x="254109" y="7734474"/>
                    <a:pt x="292600" y="7742028"/>
                    <a:pt x="330378" y="7742028"/>
                  </a:cubicBezTo>
                  <a:cubicBezTo>
                    <a:pt x="368157" y="7742028"/>
                    <a:pt x="404509" y="7735552"/>
                    <a:pt x="438009" y="7724038"/>
                  </a:cubicBezTo>
                  <a:cubicBezTo>
                    <a:pt x="438723" y="7723678"/>
                    <a:pt x="439435" y="7723678"/>
                    <a:pt x="440148" y="7723319"/>
                  </a:cubicBezTo>
                  <a:cubicBezTo>
                    <a:pt x="565955" y="7677264"/>
                    <a:pt x="658618" y="7555650"/>
                    <a:pt x="660400" y="7259609"/>
                  </a:cubicBezTo>
                  <a:lnTo>
                    <a:pt x="660400" y="0"/>
                  </a:lnTo>
                  <a:lnTo>
                    <a:pt x="0" y="0"/>
                  </a:lnTo>
                  <a:lnTo>
                    <a:pt x="0" y="7254222"/>
                  </a:lnTo>
                  <a:cubicBezTo>
                    <a:pt x="1782" y="7556368"/>
                    <a:pt x="93019" y="7677984"/>
                    <a:pt x="220252" y="7722960"/>
                  </a:cubicBezTo>
                  <a:close/>
                </a:path>
              </a:pathLst>
            </a:custGeom>
            <a:gradFill rotWithShape="true">
              <a:gsLst>
                <a:gs pos="0">
                  <a:srgbClr val="FFFFFF">
                    <a:alpha val="100000"/>
                  </a:srgbClr>
                </a:gs>
                <a:gs pos="100000">
                  <a:srgbClr val="0045BF">
                    <a:alpha val="100000"/>
                  </a:srgbClr>
                </a:gs>
              </a:gsLst>
              <a:lin ang="5400000"/>
            </a:gradFill>
          </p:spPr>
        </p:sp>
        <p:sp>
          <p:nvSpPr>
            <p:cNvPr name="TextBox 8" id="8"/>
            <p:cNvSpPr txBox="true"/>
            <p:nvPr/>
          </p:nvSpPr>
          <p:spPr>
            <a:xfrm>
              <a:off x="0" y="-47625"/>
              <a:ext cx="660400" cy="7662654"/>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5400000">
            <a:off x="15867688" y="7561343"/>
            <a:ext cx="380455" cy="4460168"/>
            <a:chOff x="0" y="0"/>
            <a:chExt cx="660400" cy="7742029"/>
          </a:xfrm>
        </p:grpSpPr>
        <p:sp>
          <p:nvSpPr>
            <p:cNvPr name="Freeform 10" id="10"/>
            <p:cNvSpPr/>
            <p:nvPr/>
          </p:nvSpPr>
          <p:spPr>
            <a:xfrm flipH="false" flipV="false" rot="0">
              <a:off x="0" y="0"/>
              <a:ext cx="660400" cy="7742028"/>
            </a:xfrm>
            <a:custGeom>
              <a:avLst/>
              <a:gdLst/>
              <a:ahLst/>
              <a:cxnLst/>
              <a:rect r="r" b="b" t="t" l="l"/>
              <a:pathLst>
                <a:path h="7742028" w="660400">
                  <a:moveTo>
                    <a:pt x="220252" y="7722960"/>
                  </a:moveTo>
                  <a:cubicBezTo>
                    <a:pt x="254109" y="7734474"/>
                    <a:pt x="292600" y="7742028"/>
                    <a:pt x="330378" y="7742028"/>
                  </a:cubicBezTo>
                  <a:cubicBezTo>
                    <a:pt x="368157" y="7742028"/>
                    <a:pt x="404509" y="7735552"/>
                    <a:pt x="438009" y="7724038"/>
                  </a:cubicBezTo>
                  <a:cubicBezTo>
                    <a:pt x="438723" y="7723678"/>
                    <a:pt x="439435" y="7723678"/>
                    <a:pt x="440148" y="7723319"/>
                  </a:cubicBezTo>
                  <a:cubicBezTo>
                    <a:pt x="565955" y="7677264"/>
                    <a:pt x="658618" y="7555650"/>
                    <a:pt x="660400" y="7259609"/>
                  </a:cubicBezTo>
                  <a:lnTo>
                    <a:pt x="660400" y="0"/>
                  </a:lnTo>
                  <a:lnTo>
                    <a:pt x="0" y="0"/>
                  </a:lnTo>
                  <a:lnTo>
                    <a:pt x="0" y="7254222"/>
                  </a:lnTo>
                  <a:cubicBezTo>
                    <a:pt x="1782" y="7556368"/>
                    <a:pt x="93019" y="7677984"/>
                    <a:pt x="220252" y="7722960"/>
                  </a:cubicBezTo>
                  <a:close/>
                </a:path>
              </a:pathLst>
            </a:custGeom>
            <a:gradFill rotWithShape="true">
              <a:gsLst>
                <a:gs pos="0">
                  <a:srgbClr val="FFFFFF">
                    <a:alpha val="100000"/>
                  </a:srgbClr>
                </a:gs>
                <a:gs pos="100000">
                  <a:srgbClr val="0045BF">
                    <a:alpha val="100000"/>
                  </a:srgbClr>
                </a:gs>
              </a:gsLst>
              <a:lin ang="5400000"/>
            </a:gradFill>
          </p:spPr>
        </p:sp>
        <p:sp>
          <p:nvSpPr>
            <p:cNvPr name="TextBox 11" id="11"/>
            <p:cNvSpPr txBox="true"/>
            <p:nvPr/>
          </p:nvSpPr>
          <p:spPr>
            <a:xfrm>
              <a:off x="0" y="-47625"/>
              <a:ext cx="660400" cy="7662654"/>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1028700" y="2861391"/>
            <a:ext cx="8129515" cy="7291808"/>
            <a:chOff x="0" y="0"/>
            <a:chExt cx="2388289" cy="2142187"/>
          </a:xfrm>
        </p:grpSpPr>
        <p:sp>
          <p:nvSpPr>
            <p:cNvPr name="Freeform 13" id="13"/>
            <p:cNvSpPr/>
            <p:nvPr/>
          </p:nvSpPr>
          <p:spPr>
            <a:xfrm flipH="false" flipV="false" rot="0">
              <a:off x="0" y="0"/>
              <a:ext cx="2388289" cy="2142187"/>
            </a:xfrm>
            <a:custGeom>
              <a:avLst/>
              <a:gdLst/>
              <a:ahLst/>
              <a:cxnLst/>
              <a:rect r="r" b="b" t="t" l="l"/>
              <a:pathLst>
                <a:path h="2142187" w="2388289">
                  <a:moveTo>
                    <a:pt x="59996" y="0"/>
                  </a:moveTo>
                  <a:lnTo>
                    <a:pt x="2328293" y="0"/>
                  </a:lnTo>
                  <a:cubicBezTo>
                    <a:pt x="2361428" y="0"/>
                    <a:pt x="2388289" y="26861"/>
                    <a:pt x="2388289" y="59996"/>
                  </a:cubicBezTo>
                  <a:lnTo>
                    <a:pt x="2388289" y="2082191"/>
                  </a:lnTo>
                  <a:cubicBezTo>
                    <a:pt x="2388289" y="2115326"/>
                    <a:pt x="2361428" y="2142187"/>
                    <a:pt x="2328293" y="2142187"/>
                  </a:cubicBezTo>
                  <a:lnTo>
                    <a:pt x="59996" y="2142187"/>
                  </a:lnTo>
                  <a:cubicBezTo>
                    <a:pt x="26861" y="2142187"/>
                    <a:pt x="0" y="2115326"/>
                    <a:pt x="0" y="2082191"/>
                  </a:cubicBezTo>
                  <a:lnTo>
                    <a:pt x="0" y="59996"/>
                  </a:lnTo>
                  <a:cubicBezTo>
                    <a:pt x="0" y="26861"/>
                    <a:pt x="26861" y="0"/>
                    <a:pt x="59996" y="0"/>
                  </a:cubicBezTo>
                  <a:close/>
                </a:path>
              </a:pathLst>
            </a:custGeom>
            <a:gradFill rotWithShape="true">
              <a:gsLst>
                <a:gs pos="0">
                  <a:srgbClr val="FFFFFF">
                    <a:alpha val="100000"/>
                  </a:srgbClr>
                </a:gs>
                <a:gs pos="100000">
                  <a:srgbClr val="99BEFF">
                    <a:alpha val="100000"/>
                  </a:srgbClr>
                </a:gs>
              </a:gsLst>
              <a:path path="circle">
                <a:fillToRect l="0" r="100000" t="0" b="100000"/>
              </a:path>
              <a:tileRect r="0" l="-100000" b="0" t="-100000"/>
            </a:gradFill>
          </p:spPr>
        </p:sp>
        <p:sp>
          <p:nvSpPr>
            <p:cNvPr name="TextBox 14" id="14"/>
            <p:cNvSpPr txBox="true"/>
            <p:nvPr/>
          </p:nvSpPr>
          <p:spPr>
            <a:xfrm>
              <a:off x="0" y="-47625"/>
              <a:ext cx="2388289" cy="2189812"/>
            </a:xfrm>
            <a:prstGeom prst="rect">
              <a:avLst/>
            </a:prstGeom>
          </p:spPr>
          <p:txBody>
            <a:bodyPr anchor="ctr" rtlCol="false" tIns="50800" lIns="50800" bIns="50800" rIns="50800"/>
            <a:lstStyle/>
            <a:p>
              <a:pPr algn="ctr">
                <a:lnSpc>
                  <a:spcPts val="2659"/>
                </a:lnSpc>
              </a:pPr>
            </a:p>
          </p:txBody>
        </p:sp>
      </p:grpSp>
      <p:sp>
        <p:nvSpPr>
          <p:cNvPr name="Freeform 15" id="15"/>
          <p:cNvSpPr/>
          <p:nvPr/>
        </p:nvSpPr>
        <p:spPr>
          <a:xfrm flipH="false" flipV="false" rot="0">
            <a:off x="1850001" y="3042366"/>
            <a:ext cx="6749062" cy="6749062"/>
          </a:xfrm>
          <a:custGeom>
            <a:avLst/>
            <a:gdLst/>
            <a:ahLst/>
            <a:cxnLst/>
            <a:rect r="r" b="b" t="t" l="l"/>
            <a:pathLst>
              <a:path h="6749062" w="6749062">
                <a:moveTo>
                  <a:pt x="0" y="0"/>
                </a:moveTo>
                <a:lnTo>
                  <a:pt x="6749062" y="0"/>
                </a:lnTo>
                <a:lnTo>
                  <a:pt x="6749062" y="6749062"/>
                </a:lnTo>
                <a:lnTo>
                  <a:pt x="0" y="6749062"/>
                </a:lnTo>
                <a:lnTo>
                  <a:pt x="0" y="0"/>
                </a:lnTo>
                <a:close/>
              </a:path>
            </a:pathLst>
          </a:custGeom>
          <a:blipFill>
            <a:blip r:embed="rId3"/>
            <a:stretch>
              <a:fillRect l="0" t="0" r="0" b="0"/>
            </a:stretch>
          </a:blipFill>
        </p:spPr>
      </p:sp>
      <p:graphicFrame>
        <p:nvGraphicFramePr>
          <p:cNvPr name="Table 16" id="16"/>
          <p:cNvGraphicFramePr>
            <a:graphicFrameLocks noGrp="true"/>
          </p:cNvGraphicFramePr>
          <p:nvPr/>
        </p:nvGraphicFramePr>
        <p:xfrm>
          <a:off x="9523333" y="6134100"/>
          <a:ext cx="7735967" cy="3128289"/>
        </p:xfrm>
        <a:graphic>
          <a:graphicData uri="http://schemas.openxmlformats.org/drawingml/2006/table">
            <a:tbl>
              <a:tblPr/>
              <a:tblGrid>
                <a:gridCol w="1885473"/>
                <a:gridCol w="1462623"/>
                <a:gridCol w="1462623"/>
                <a:gridCol w="1462623"/>
                <a:gridCol w="1462623"/>
              </a:tblGrid>
              <a:tr h="781037">
                <a:tc>
                  <a:txBody>
                    <a:bodyPr anchor="t" rtlCol="false"/>
                    <a:lstStyle/>
                    <a:p>
                      <a:pPr algn="ctr">
                        <a:lnSpc>
                          <a:spcPts val="2659"/>
                        </a:lnSpc>
                        <a:defRPr/>
                      </a:pPr>
                      <a:r>
                        <a:rPr lang="en-US" sz="1899">
                          <a:solidFill>
                            <a:srgbClr val="000000"/>
                          </a:solidFill>
                          <a:latin typeface="Antic Bold"/>
                          <a:ea typeface="Antic Bold"/>
                          <a:cs typeface="Antic Bold"/>
                          <a:sym typeface="Antic Bold"/>
                        </a:rPr>
                        <a:t>Metode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Antic Bold"/>
                          <a:ea typeface="Antic Bold"/>
                          <a:cs typeface="Antic Bold"/>
                          <a:sym typeface="Antic Bold"/>
                        </a:rPr>
                        <a:t>Mean_Sim</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Antic Bold"/>
                          <a:ea typeface="Antic Bold"/>
                          <a:cs typeface="Antic Bold"/>
                          <a:sym typeface="Antic Bold"/>
                        </a:rPr>
                        <a:t>Var_Sim</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Antic Bold"/>
                          <a:ea typeface="Antic Bold"/>
                          <a:cs typeface="Antic Bold"/>
                          <a:sym typeface="Antic Bold"/>
                        </a:rPr>
                        <a:t>Err_Var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Antic Bold"/>
                          <a:ea typeface="Antic Bold"/>
                          <a:cs typeface="Antic Bold"/>
                          <a:sym typeface="Antic Bold"/>
                        </a:rPr>
                        <a:t>Err_Mean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781037">
                <a:tc>
                  <a:txBody>
                    <a:bodyPr anchor="t" rtlCol="false"/>
                    <a:lstStyle/>
                    <a:p>
                      <a:pPr algn="ctr">
                        <a:lnSpc>
                          <a:spcPts val="2659"/>
                        </a:lnSpc>
                        <a:defRPr/>
                      </a:pPr>
                      <a:r>
                        <a:rPr lang="en-US" sz="1899">
                          <a:solidFill>
                            <a:srgbClr val="000000"/>
                          </a:solidFill>
                          <a:latin typeface="Antic"/>
                          <a:ea typeface="Antic"/>
                          <a:cs typeface="Antic"/>
                          <a:sym typeface="Antic"/>
                        </a:rPr>
                        <a:t>Inverse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Antic"/>
                          <a:ea typeface="Antic"/>
                          <a:cs typeface="Antic"/>
                          <a:sym typeface="Antic"/>
                        </a:rPr>
                        <a:t>55.9166</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Antic"/>
                          <a:ea typeface="Antic"/>
                          <a:cs typeface="Antic"/>
                          <a:sym typeface="Antic"/>
                        </a:rPr>
                        <a:t>506.7425</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Antic"/>
                          <a:ea typeface="Antic"/>
                          <a:cs typeface="Antic"/>
                          <a:sym typeface="Antic"/>
                        </a:rPr>
                        <a:t>10.8419</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Antic"/>
                          <a:ea typeface="Antic"/>
                          <a:cs typeface="Antic"/>
                          <a:sym typeface="Antic"/>
                        </a:rPr>
                        <a:t>0.2652</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781037">
                <a:tc>
                  <a:txBody>
                    <a:bodyPr anchor="t" rtlCol="false"/>
                    <a:lstStyle/>
                    <a:p>
                      <a:pPr algn="ctr">
                        <a:lnSpc>
                          <a:spcPts val="2659"/>
                        </a:lnSpc>
                        <a:defRPr/>
                      </a:pPr>
                      <a:r>
                        <a:rPr lang="en-US" sz="1899">
                          <a:solidFill>
                            <a:srgbClr val="000000"/>
                          </a:solidFill>
                          <a:latin typeface="Antic"/>
                          <a:ea typeface="Antic"/>
                          <a:cs typeface="Antic"/>
                          <a:sym typeface="Antic"/>
                        </a:rPr>
                        <a:t>AcceptReject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Antic"/>
                          <a:ea typeface="Antic"/>
                          <a:cs typeface="Antic"/>
                          <a:sym typeface="Antic"/>
                        </a:rPr>
                        <a:t>55.8617</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Antic"/>
                          <a:ea typeface="Antic"/>
                          <a:cs typeface="Antic"/>
                          <a:sym typeface="Antic"/>
                        </a:rPr>
                        <a:t>508.4572</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Antic"/>
                          <a:ea typeface="Antic"/>
                          <a:cs typeface="Antic"/>
                          <a:sym typeface="Antic"/>
                        </a:rPr>
                        <a:t>9.1272</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Antic"/>
                          <a:ea typeface="Antic"/>
                          <a:cs typeface="Antic"/>
                          <a:sym typeface="Antic"/>
                        </a:rPr>
                        <a:t>0.3201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785177">
                <a:tc>
                  <a:txBody>
                    <a:bodyPr anchor="t" rtlCol="false"/>
                    <a:lstStyle/>
                    <a:p>
                      <a:pPr algn="ctr">
                        <a:lnSpc>
                          <a:spcPts val="2659"/>
                        </a:lnSpc>
                        <a:defRPr/>
                      </a:pPr>
                      <a:r>
                        <a:rPr lang="en-US" sz="1899">
                          <a:solidFill>
                            <a:srgbClr val="000000"/>
                          </a:solidFill>
                          <a:latin typeface="Antic"/>
                          <a:ea typeface="Antic"/>
                          <a:cs typeface="Antic"/>
                          <a:sym typeface="Antic"/>
                        </a:rPr>
                        <a:t>Direct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Antic"/>
                          <a:ea typeface="Antic"/>
                          <a:cs typeface="Antic"/>
                          <a:sym typeface="Antic"/>
                        </a:rPr>
                        <a:t>57.3703</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Antic"/>
                          <a:ea typeface="Antic"/>
                          <a:cs typeface="Antic"/>
                          <a:sym typeface="Antic"/>
                        </a:rPr>
                        <a:t>534.7221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Antic"/>
                          <a:ea typeface="Antic"/>
                          <a:cs typeface="Antic"/>
                          <a:sym typeface="Antic"/>
                        </a:rPr>
                        <a:t>17.1376</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Antic"/>
                          <a:ea typeface="Antic"/>
                          <a:cs typeface="Antic"/>
                          <a:sym typeface="Antic"/>
                        </a:rPr>
                        <a:t>1.1885</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17" id="17"/>
          <p:cNvSpPr txBox="true"/>
          <p:nvPr/>
        </p:nvSpPr>
        <p:spPr>
          <a:xfrm rot="0">
            <a:off x="1850001" y="1889928"/>
            <a:ext cx="6600273" cy="714287"/>
          </a:xfrm>
          <a:prstGeom prst="rect">
            <a:avLst/>
          </a:prstGeom>
        </p:spPr>
        <p:txBody>
          <a:bodyPr anchor="t" rtlCol="false" tIns="0" lIns="0" bIns="0" rIns="0">
            <a:spAutoFit/>
          </a:bodyPr>
          <a:lstStyle/>
          <a:p>
            <a:pPr algn="ctr">
              <a:lnSpc>
                <a:spcPts val="6296"/>
              </a:lnSpc>
              <a:spcBef>
                <a:spcPct val="0"/>
              </a:spcBef>
            </a:pPr>
            <a:r>
              <a:rPr lang="en-US" b="true" sz="3148">
                <a:solidFill>
                  <a:srgbClr val="0044BC"/>
                </a:solidFill>
                <a:latin typeface="Canva Sans Bold"/>
                <a:ea typeface="Canva Sans Bold"/>
                <a:cs typeface="Canva Sans Bold"/>
                <a:sym typeface="Canva Sans Bold"/>
              </a:rPr>
              <a:t>Acceptance-rejection Method</a:t>
            </a:r>
          </a:p>
        </p:txBody>
      </p:sp>
      <p:sp>
        <p:nvSpPr>
          <p:cNvPr name="TextBox 18" id="18"/>
          <p:cNvSpPr txBox="true"/>
          <p:nvPr/>
        </p:nvSpPr>
        <p:spPr>
          <a:xfrm rot="0">
            <a:off x="4312758" y="685800"/>
            <a:ext cx="9137019" cy="1002070"/>
          </a:xfrm>
          <a:prstGeom prst="rect">
            <a:avLst/>
          </a:prstGeom>
        </p:spPr>
        <p:txBody>
          <a:bodyPr anchor="t" rtlCol="false" tIns="0" lIns="0" bIns="0" rIns="0">
            <a:spAutoFit/>
          </a:bodyPr>
          <a:lstStyle/>
          <a:p>
            <a:pPr algn="ctr">
              <a:lnSpc>
                <a:spcPts val="8716"/>
              </a:lnSpc>
              <a:spcBef>
                <a:spcPct val="0"/>
              </a:spcBef>
            </a:pPr>
            <a:r>
              <a:rPr lang="en-US" b="true" sz="4358">
                <a:solidFill>
                  <a:srgbClr val="0044BC"/>
                </a:solidFill>
                <a:latin typeface="Canva Sans Bold"/>
                <a:ea typeface="Canva Sans Bold"/>
                <a:cs typeface="Canva Sans Bold"/>
                <a:sym typeface="Canva Sans Bold"/>
              </a:rPr>
              <a:t>Hasil</a:t>
            </a:r>
          </a:p>
        </p:txBody>
      </p:sp>
      <p:sp>
        <p:nvSpPr>
          <p:cNvPr name="TextBox 19" id="19"/>
          <p:cNvSpPr txBox="true"/>
          <p:nvPr/>
        </p:nvSpPr>
        <p:spPr>
          <a:xfrm rot="0">
            <a:off x="9651658" y="2689941"/>
            <a:ext cx="7607642" cy="2996513"/>
          </a:xfrm>
          <a:prstGeom prst="rect">
            <a:avLst/>
          </a:prstGeom>
        </p:spPr>
        <p:txBody>
          <a:bodyPr anchor="t" rtlCol="false" tIns="0" lIns="0" bIns="0" rIns="0">
            <a:spAutoFit/>
          </a:bodyPr>
          <a:lstStyle/>
          <a:p>
            <a:pPr algn="just">
              <a:lnSpc>
                <a:spcPts val="4896"/>
              </a:lnSpc>
            </a:pPr>
            <a:r>
              <a:rPr lang="en-US" sz="2448" b="true">
                <a:solidFill>
                  <a:srgbClr val="0044BC"/>
                </a:solidFill>
                <a:latin typeface="Canva Sans Bold"/>
                <a:ea typeface="Canva Sans Bold"/>
                <a:cs typeface="Canva Sans Bold"/>
                <a:sym typeface="Canva Sans Bold"/>
              </a:rPr>
              <a:t>TARGET -&gt; Mean: 56.18 | Var: 517.58 </a:t>
            </a:r>
          </a:p>
          <a:p>
            <a:pPr algn="just">
              <a:lnSpc>
                <a:spcPts val="4896"/>
              </a:lnSpc>
            </a:pPr>
          </a:p>
          <a:p>
            <a:pPr algn="just">
              <a:lnSpc>
                <a:spcPts val="4896"/>
              </a:lnSpc>
            </a:pPr>
            <a:r>
              <a:rPr lang="en-US" sz="2448" b="true">
                <a:solidFill>
                  <a:srgbClr val="0044BC"/>
                </a:solidFill>
                <a:latin typeface="Canva Sans Bold"/>
                <a:ea typeface="Canva Sans Bold"/>
                <a:cs typeface="Canva Sans Bold"/>
                <a:sym typeface="Canva Sans Bold"/>
              </a:rPr>
              <a:t>Total Percobaan: 38042 </a:t>
            </a:r>
          </a:p>
          <a:p>
            <a:pPr algn="just">
              <a:lnSpc>
                <a:spcPts val="4896"/>
              </a:lnSpc>
            </a:pPr>
            <a:r>
              <a:rPr lang="en-US" sz="2448" b="true">
                <a:solidFill>
                  <a:srgbClr val="0044BC"/>
                </a:solidFill>
                <a:latin typeface="Canva Sans Bold"/>
                <a:ea typeface="Canva Sans Bold"/>
                <a:cs typeface="Canva Sans Bold"/>
                <a:sym typeface="Canva Sans Bold"/>
              </a:rPr>
              <a:t>Data Diterima  : 10000 </a:t>
            </a:r>
          </a:p>
          <a:p>
            <a:pPr algn="just">
              <a:lnSpc>
                <a:spcPts val="4896"/>
              </a:lnSpc>
              <a:spcBef>
                <a:spcPct val="0"/>
              </a:spcBef>
            </a:pPr>
            <a:r>
              <a:rPr lang="en-US" b="true" sz="2448">
                <a:solidFill>
                  <a:srgbClr val="0044BC"/>
                </a:solidFill>
                <a:latin typeface="Canva Sans Bold"/>
                <a:ea typeface="Canva Sans Bold"/>
                <a:cs typeface="Canva Sans Bold"/>
                <a:sym typeface="Canva Sans Bold"/>
              </a:rPr>
              <a:t>Efisiensi      : 26.29 %</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86746" y="-1406234"/>
            <a:ext cx="19689922" cy="13118410"/>
          </a:xfrm>
          <a:custGeom>
            <a:avLst/>
            <a:gdLst/>
            <a:ahLst/>
            <a:cxnLst/>
            <a:rect r="r" b="b" t="t" l="l"/>
            <a:pathLst>
              <a:path h="13118410" w="19689922">
                <a:moveTo>
                  <a:pt x="0" y="0"/>
                </a:moveTo>
                <a:lnTo>
                  <a:pt x="19689922" y="0"/>
                </a:lnTo>
                <a:lnTo>
                  <a:pt x="19689922" y="13118410"/>
                </a:lnTo>
                <a:lnTo>
                  <a:pt x="0" y="13118410"/>
                </a:lnTo>
                <a:lnTo>
                  <a:pt x="0" y="0"/>
                </a:lnTo>
                <a:close/>
              </a:path>
            </a:pathLst>
          </a:custGeom>
          <a:blipFill>
            <a:blip r:embed="rId2">
              <a:alphaModFix amt="23000"/>
            </a:blip>
            <a:stretch>
              <a:fillRect l="0" t="0" r="0" b="0"/>
            </a:stretch>
          </a:blipFill>
        </p:spPr>
      </p:sp>
      <p:grpSp>
        <p:nvGrpSpPr>
          <p:cNvPr name="Group 3" id="3"/>
          <p:cNvGrpSpPr/>
          <p:nvPr/>
        </p:nvGrpSpPr>
        <p:grpSpPr>
          <a:xfrm rot="0">
            <a:off x="9623756" y="9471"/>
            <a:ext cx="9379421" cy="10287000"/>
            <a:chOff x="0" y="0"/>
            <a:chExt cx="2470300" cy="2709333"/>
          </a:xfrm>
        </p:grpSpPr>
        <p:sp>
          <p:nvSpPr>
            <p:cNvPr name="Freeform 4" id="4"/>
            <p:cNvSpPr/>
            <p:nvPr/>
          </p:nvSpPr>
          <p:spPr>
            <a:xfrm flipH="false" flipV="false" rot="0">
              <a:off x="0" y="0"/>
              <a:ext cx="2470300" cy="2709333"/>
            </a:xfrm>
            <a:custGeom>
              <a:avLst/>
              <a:gdLst/>
              <a:ahLst/>
              <a:cxnLst/>
              <a:rect r="r" b="b" t="t" l="l"/>
              <a:pathLst>
                <a:path h="2709333" w="2470300">
                  <a:moveTo>
                    <a:pt x="0" y="0"/>
                  </a:moveTo>
                  <a:lnTo>
                    <a:pt x="2470300" y="0"/>
                  </a:lnTo>
                  <a:lnTo>
                    <a:pt x="2470300" y="2709333"/>
                  </a:lnTo>
                  <a:lnTo>
                    <a:pt x="0" y="2709333"/>
                  </a:lnTo>
                  <a:close/>
                </a:path>
              </a:pathLst>
            </a:custGeom>
            <a:solidFill>
              <a:srgbClr val="0037BC"/>
            </a:solidFill>
          </p:spPr>
        </p:sp>
        <p:sp>
          <p:nvSpPr>
            <p:cNvPr name="TextBox 5" id="5"/>
            <p:cNvSpPr txBox="true"/>
            <p:nvPr/>
          </p:nvSpPr>
          <p:spPr>
            <a:xfrm>
              <a:off x="0" y="-47625"/>
              <a:ext cx="2470300" cy="2756958"/>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028700" y="942975"/>
            <a:ext cx="8115300" cy="771524"/>
          </a:xfrm>
          <a:prstGeom prst="rect">
            <a:avLst/>
          </a:prstGeom>
        </p:spPr>
        <p:txBody>
          <a:bodyPr anchor="t" rtlCol="false" tIns="0" lIns="0" bIns="0" rIns="0">
            <a:spAutoFit/>
          </a:bodyPr>
          <a:lstStyle/>
          <a:p>
            <a:pPr algn="l">
              <a:lnSpc>
                <a:spcPts val="6300"/>
              </a:lnSpc>
            </a:pPr>
            <a:r>
              <a:rPr lang="en-US" sz="4500">
                <a:solidFill>
                  <a:srgbClr val="0044BC"/>
                </a:solidFill>
                <a:latin typeface="Canva Sans"/>
                <a:ea typeface="Canva Sans"/>
                <a:cs typeface="Canva Sans"/>
                <a:sym typeface="Canva Sans"/>
              </a:rPr>
              <a:t>KESIMPULAN </a:t>
            </a:r>
          </a:p>
        </p:txBody>
      </p:sp>
      <p:sp>
        <p:nvSpPr>
          <p:cNvPr name="TextBox 7" id="7"/>
          <p:cNvSpPr txBox="true"/>
          <p:nvPr/>
        </p:nvSpPr>
        <p:spPr>
          <a:xfrm rot="0">
            <a:off x="1128539" y="1666874"/>
            <a:ext cx="7915622" cy="7804830"/>
          </a:xfrm>
          <a:prstGeom prst="rect">
            <a:avLst/>
          </a:prstGeom>
        </p:spPr>
        <p:txBody>
          <a:bodyPr anchor="t" rtlCol="false" tIns="0" lIns="0" bIns="0" rIns="0">
            <a:spAutoFit/>
          </a:bodyPr>
          <a:lstStyle/>
          <a:p>
            <a:pPr algn="just">
              <a:lnSpc>
                <a:spcPts val="3938"/>
              </a:lnSpc>
            </a:pPr>
            <a:r>
              <a:rPr lang="en-US" sz="2813">
                <a:solidFill>
                  <a:srgbClr val="0B2343"/>
                </a:solidFill>
                <a:latin typeface="Canva Sans"/>
                <a:ea typeface="Canva Sans"/>
                <a:cs typeface="Canva Sans"/>
                <a:sym typeface="Canva Sans"/>
              </a:rPr>
              <a:t>Data kunjungan perpustakaan menunjukkan overdispersion, sehingga Poisson dan Binomial tidak sesuai.</a:t>
            </a:r>
          </a:p>
          <a:p>
            <a:pPr algn="just">
              <a:lnSpc>
                <a:spcPts val="3938"/>
              </a:lnSpc>
            </a:pPr>
            <a:r>
              <a:rPr lang="en-US" sz="2813">
                <a:solidFill>
                  <a:srgbClr val="0B2343"/>
                </a:solidFill>
                <a:latin typeface="Canva Sans"/>
                <a:ea typeface="Canva Sans"/>
                <a:cs typeface="Canva Sans"/>
                <a:sym typeface="Canva Sans"/>
              </a:rPr>
              <a:t>• Berdasarkan LRT, AIC, BIC, dan uji KS, Distribusi Negatif Binomial menjadi model terbaik untuk memodelkan frekuensi kunjungan.</a:t>
            </a:r>
          </a:p>
          <a:p>
            <a:pPr algn="just">
              <a:lnSpc>
                <a:spcPts val="3938"/>
              </a:lnSpc>
            </a:pPr>
            <a:r>
              <a:rPr lang="en-US" sz="2813">
                <a:solidFill>
                  <a:srgbClr val="0B2343"/>
                </a:solidFill>
                <a:latin typeface="Canva Sans"/>
                <a:ea typeface="Canva Sans"/>
                <a:cs typeface="Canva Sans"/>
                <a:sym typeface="Canva Sans"/>
              </a:rPr>
              <a:t>• Dari tiga metode simulasi (Inverse Transform, Acceptance-Rejection, Direct Simulation), Inverse Transform menghasilkan mean dan varians paling mendekati data asli dan menjadi metode paling akurat.</a:t>
            </a:r>
          </a:p>
          <a:p>
            <a:pPr algn="just">
              <a:lnSpc>
                <a:spcPts val="3938"/>
              </a:lnSpc>
              <a:spcBef>
                <a:spcPct val="0"/>
              </a:spcBef>
            </a:pPr>
            <a:r>
              <a:rPr lang="en-US" sz="2813">
                <a:solidFill>
                  <a:srgbClr val="0B2343"/>
                </a:solidFill>
                <a:latin typeface="Canva Sans"/>
                <a:ea typeface="Canva Sans"/>
                <a:cs typeface="Canva Sans"/>
                <a:sym typeface="Canva Sans"/>
              </a:rPr>
              <a:t>• Simulasi yang dihasilkan mampu merepresentasikan pola kunjungan secara realistis sehingga dapat digunakan untuk analisis operasional.</a:t>
            </a:r>
          </a:p>
        </p:txBody>
      </p:sp>
      <p:sp>
        <p:nvSpPr>
          <p:cNvPr name="TextBox 8" id="8"/>
          <p:cNvSpPr txBox="true"/>
          <p:nvPr/>
        </p:nvSpPr>
        <p:spPr>
          <a:xfrm rot="0">
            <a:off x="10847759" y="2176488"/>
            <a:ext cx="6411541" cy="5934710"/>
          </a:xfrm>
          <a:prstGeom prst="rect">
            <a:avLst/>
          </a:prstGeom>
        </p:spPr>
        <p:txBody>
          <a:bodyPr anchor="t" rtlCol="false" tIns="0" lIns="0" bIns="0" rIns="0">
            <a:spAutoFit/>
          </a:bodyPr>
          <a:lstStyle/>
          <a:p>
            <a:pPr algn="just">
              <a:lnSpc>
                <a:spcPts val="3640"/>
              </a:lnSpc>
              <a:spcBef>
                <a:spcPct val="0"/>
              </a:spcBef>
            </a:pPr>
            <a:r>
              <a:rPr lang="en-US" sz="2600">
                <a:solidFill>
                  <a:srgbClr val="FFFFFF"/>
                </a:solidFill>
                <a:latin typeface="Canva Sans"/>
                <a:ea typeface="Canva Sans"/>
                <a:cs typeface="Canva Sans"/>
                <a:sym typeface="Canva Sans"/>
              </a:rPr>
              <a:t>Model bisa ditingkatkan dengan data yang dikumpulkan lebih lama dan memasukkan faktor eksternal seperti jadwal kuliah atau musim ujian. Untuk simulasi, Inverse Transform tetap jadi metode paling akurat, sementara Acceptance-Rejection bisa dipakai jika butuh fleksibilitas. Direct Simulation bisa diperbaiki lewat estimasi parameter yang lebih halus. Hasil simulasi ini dapat membantu perpustakaan dalam perencanaan kapasitas, staf, dan jadwal layanan.</a:t>
            </a:r>
          </a:p>
        </p:txBody>
      </p:sp>
      <p:sp>
        <p:nvSpPr>
          <p:cNvPr name="TextBox 9" id="9"/>
          <p:cNvSpPr txBox="true"/>
          <p:nvPr/>
        </p:nvSpPr>
        <p:spPr>
          <a:xfrm rot="0">
            <a:off x="10887876" y="942975"/>
            <a:ext cx="8115300" cy="771524"/>
          </a:xfrm>
          <a:prstGeom prst="rect">
            <a:avLst/>
          </a:prstGeom>
        </p:spPr>
        <p:txBody>
          <a:bodyPr anchor="t" rtlCol="false" tIns="0" lIns="0" bIns="0" rIns="0">
            <a:spAutoFit/>
          </a:bodyPr>
          <a:lstStyle/>
          <a:p>
            <a:pPr algn="l">
              <a:lnSpc>
                <a:spcPts val="6300"/>
              </a:lnSpc>
            </a:pPr>
            <a:r>
              <a:rPr lang="en-US" sz="4500">
                <a:solidFill>
                  <a:srgbClr val="FFFFFF"/>
                </a:solidFill>
                <a:latin typeface="Canva Sans"/>
                <a:ea typeface="Canva Sans"/>
                <a:cs typeface="Canva Sans"/>
                <a:sym typeface="Canva Sans"/>
              </a:rPr>
              <a:t>SARAN</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14128935" y="724060"/>
            <a:ext cx="256141" cy="2439474"/>
            <a:chOff x="0" y="0"/>
            <a:chExt cx="554046" cy="5276697"/>
          </a:xfrm>
        </p:grpSpPr>
        <p:sp>
          <p:nvSpPr>
            <p:cNvPr name="Freeform 3" id="3"/>
            <p:cNvSpPr/>
            <p:nvPr/>
          </p:nvSpPr>
          <p:spPr>
            <a:xfrm flipH="false" flipV="false" rot="0">
              <a:off x="0" y="0"/>
              <a:ext cx="554046" cy="5276697"/>
            </a:xfrm>
            <a:custGeom>
              <a:avLst/>
              <a:gdLst/>
              <a:ahLst/>
              <a:cxnLst/>
              <a:rect r="r" b="b" t="t" l="l"/>
              <a:pathLst>
                <a:path h="5276697" w="554046">
                  <a:moveTo>
                    <a:pt x="184782" y="5257628"/>
                  </a:moveTo>
                  <a:cubicBezTo>
                    <a:pt x="213186" y="5269142"/>
                    <a:pt x="245478" y="5276697"/>
                    <a:pt x="277172" y="5276697"/>
                  </a:cubicBezTo>
                  <a:cubicBezTo>
                    <a:pt x="308867" y="5276697"/>
                    <a:pt x="339365" y="5270220"/>
                    <a:pt x="367470" y="5258706"/>
                  </a:cubicBezTo>
                  <a:cubicBezTo>
                    <a:pt x="368068" y="5258346"/>
                    <a:pt x="368666" y="5258346"/>
                    <a:pt x="369264" y="5257987"/>
                  </a:cubicBezTo>
                  <a:cubicBezTo>
                    <a:pt x="474811" y="5211931"/>
                    <a:pt x="552551" y="5090318"/>
                    <a:pt x="554046" y="4849039"/>
                  </a:cubicBezTo>
                  <a:lnTo>
                    <a:pt x="554046" y="0"/>
                  </a:lnTo>
                  <a:lnTo>
                    <a:pt x="0" y="0"/>
                  </a:lnTo>
                  <a:lnTo>
                    <a:pt x="0" y="4845440"/>
                  </a:lnTo>
                  <a:cubicBezTo>
                    <a:pt x="1495" y="5091037"/>
                    <a:pt x="78039" y="5212652"/>
                    <a:pt x="184782" y="5257628"/>
                  </a:cubicBezTo>
                  <a:close/>
                </a:path>
              </a:pathLst>
            </a:custGeom>
            <a:gradFill rotWithShape="true">
              <a:gsLst>
                <a:gs pos="0">
                  <a:srgbClr val="FFFFFF">
                    <a:alpha val="100000"/>
                  </a:srgbClr>
                </a:gs>
                <a:gs pos="100000">
                  <a:srgbClr val="99BEFF">
                    <a:alpha val="100000"/>
                  </a:srgbClr>
                </a:gs>
              </a:gsLst>
              <a:path path="circle">
                <a:fillToRect l="0" r="100000" t="0" b="100000"/>
              </a:path>
              <a:tileRect r="0" l="-100000" b="0" t="-100000"/>
            </a:gradFill>
          </p:spPr>
        </p:sp>
        <p:sp>
          <p:nvSpPr>
            <p:cNvPr name="TextBox 4" id="4"/>
            <p:cNvSpPr txBox="true"/>
            <p:nvPr/>
          </p:nvSpPr>
          <p:spPr>
            <a:xfrm>
              <a:off x="0" y="-47625"/>
              <a:ext cx="554046" cy="5197322"/>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2694251" y="2625081"/>
            <a:ext cx="5120758" cy="9644350"/>
            <a:chOff x="0" y="0"/>
            <a:chExt cx="665036" cy="1252517"/>
          </a:xfrm>
        </p:grpSpPr>
        <p:sp>
          <p:nvSpPr>
            <p:cNvPr name="Freeform 6" id="6"/>
            <p:cNvSpPr/>
            <p:nvPr/>
          </p:nvSpPr>
          <p:spPr>
            <a:xfrm flipH="false" flipV="false" rot="0">
              <a:off x="0" y="0"/>
              <a:ext cx="665036" cy="1252517"/>
            </a:xfrm>
            <a:custGeom>
              <a:avLst/>
              <a:gdLst/>
              <a:ahLst/>
              <a:cxnLst/>
              <a:rect r="r" b="b" t="t" l="l"/>
              <a:pathLst>
                <a:path h="1252517" w="665036">
                  <a:moveTo>
                    <a:pt x="151187" y="0"/>
                  </a:moveTo>
                  <a:lnTo>
                    <a:pt x="513849" y="0"/>
                  </a:lnTo>
                  <a:cubicBezTo>
                    <a:pt x="597347" y="0"/>
                    <a:pt x="665036" y="67689"/>
                    <a:pt x="665036" y="151187"/>
                  </a:cubicBezTo>
                  <a:lnTo>
                    <a:pt x="665036" y="1101330"/>
                  </a:lnTo>
                  <a:cubicBezTo>
                    <a:pt x="665036" y="1184829"/>
                    <a:pt x="597347" y="1252517"/>
                    <a:pt x="513849" y="1252517"/>
                  </a:cubicBezTo>
                  <a:lnTo>
                    <a:pt x="151187" y="1252517"/>
                  </a:lnTo>
                  <a:cubicBezTo>
                    <a:pt x="67689" y="1252517"/>
                    <a:pt x="0" y="1184829"/>
                    <a:pt x="0" y="1101330"/>
                  </a:cubicBezTo>
                  <a:lnTo>
                    <a:pt x="0" y="151187"/>
                  </a:lnTo>
                  <a:cubicBezTo>
                    <a:pt x="0" y="67689"/>
                    <a:pt x="67689" y="0"/>
                    <a:pt x="151187" y="0"/>
                  </a:cubicBezTo>
                  <a:close/>
                </a:path>
              </a:pathLst>
            </a:custGeom>
            <a:blipFill>
              <a:blip r:embed="rId2"/>
              <a:stretch>
                <a:fillRect l="-91253" t="0" r="-91253" b="0"/>
              </a:stretch>
            </a:blipFill>
          </p:spPr>
        </p:sp>
      </p:grpSp>
      <p:grpSp>
        <p:nvGrpSpPr>
          <p:cNvPr name="Group 7" id="7"/>
          <p:cNvGrpSpPr/>
          <p:nvPr/>
        </p:nvGrpSpPr>
        <p:grpSpPr>
          <a:xfrm rot="0">
            <a:off x="10494912" y="-2830099"/>
            <a:ext cx="3487752" cy="8407862"/>
            <a:chOff x="0" y="0"/>
            <a:chExt cx="519570" cy="1252517"/>
          </a:xfrm>
        </p:grpSpPr>
        <p:sp>
          <p:nvSpPr>
            <p:cNvPr name="Freeform 8" id="8"/>
            <p:cNvSpPr/>
            <p:nvPr/>
          </p:nvSpPr>
          <p:spPr>
            <a:xfrm flipH="false" flipV="false" rot="0">
              <a:off x="0" y="0"/>
              <a:ext cx="519570" cy="1252517"/>
            </a:xfrm>
            <a:custGeom>
              <a:avLst/>
              <a:gdLst/>
              <a:ahLst/>
              <a:cxnLst/>
              <a:rect r="r" b="b" t="t" l="l"/>
              <a:pathLst>
                <a:path h="1252517" w="519570">
                  <a:moveTo>
                    <a:pt x="221974" y="0"/>
                  </a:moveTo>
                  <a:lnTo>
                    <a:pt x="297595" y="0"/>
                  </a:lnTo>
                  <a:cubicBezTo>
                    <a:pt x="420188" y="0"/>
                    <a:pt x="519570" y="99381"/>
                    <a:pt x="519570" y="221974"/>
                  </a:cubicBezTo>
                  <a:lnTo>
                    <a:pt x="519570" y="1030543"/>
                  </a:lnTo>
                  <a:cubicBezTo>
                    <a:pt x="519570" y="1153136"/>
                    <a:pt x="420188" y="1252517"/>
                    <a:pt x="297595" y="1252517"/>
                  </a:cubicBezTo>
                  <a:lnTo>
                    <a:pt x="221974" y="1252517"/>
                  </a:lnTo>
                  <a:cubicBezTo>
                    <a:pt x="99381" y="1252517"/>
                    <a:pt x="0" y="1153136"/>
                    <a:pt x="0" y="1030543"/>
                  </a:cubicBezTo>
                  <a:lnTo>
                    <a:pt x="0" y="221974"/>
                  </a:lnTo>
                  <a:cubicBezTo>
                    <a:pt x="0" y="99381"/>
                    <a:pt x="99381" y="0"/>
                    <a:pt x="221974" y="0"/>
                  </a:cubicBezTo>
                  <a:close/>
                </a:path>
              </a:pathLst>
            </a:custGeom>
            <a:solidFill>
              <a:srgbClr val="0044BC">
                <a:alpha val="74902"/>
              </a:srgbClr>
            </a:solidFill>
            <a:ln w="12700">
              <a:solidFill>
                <a:srgbClr val="000000"/>
              </a:solidFill>
            </a:ln>
          </p:spPr>
        </p:sp>
      </p:grpSp>
      <p:grpSp>
        <p:nvGrpSpPr>
          <p:cNvPr name="Group 9" id="9"/>
          <p:cNvGrpSpPr/>
          <p:nvPr/>
        </p:nvGrpSpPr>
        <p:grpSpPr>
          <a:xfrm rot="713487">
            <a:off x="-1543050" y="7200900"/>
            <a:ext cx="3086100" cy="3086100"/>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FFFFF">
                    <a:alpha val="100000"/>
                  </a:srgbClr>
                </a:gs>
                <a:gs pos="100000">
                  <a:srgbClr val="99BEFF">
                    <a:alpha val="100000"/>
                  </a:srgbClr>
                </a:gs>
              </a:gsLst>
              <a:path path="circle">
                <a:fillToRect l="0" r="100000" t="0" b="100000"/>
              </a:path>
              <a:tileRect r="0" l="-100000" b="0" t="-100000"/>
            </a:gradFill>
          </p:spPr>
        </p:sp>
        <p:sp>
          <p:nvSpPr>
            <p:cNvPr name="TextBox 11" id="11"/>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2566108">
            <a:off x="16506507" y="-514350"/>
            <a:ext cx="2961201" cy="2961201"/>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9BEFF">
                    <a:alpha val="100000"/>
                  </a:srgbClr>
                </a:gs>
                <a:gs pos="100000">
                  <a:srgbClr val="FFFFFF">
                    <a:alpha val="100000"/>
                  </a:srgbClr>
                </a:gs>
              </a:gsLst>
              <a:path path="circle">
                <a:fillToRect l="0" r="100000" t="0" b="100000"/>
              </a:path>
              <a:tileRect r="0" l="-100000" b="0" t="-100000"/>
            </a:gradFill>
          </p:spPr>
        </p:sp>
        <p:sp>
          <p:nvSpPr>
            <p:cNvPr name="TextBox 14" id="14"/>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10188442">
            <a:off x="1839726" y="1217249"/>
            <a:ext cx="889590" cy="889590"/>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9BEFF">
                    <a:alpha val="100000"/>
                  </a:srgbClr>
                </a:gs>
                <a:gs pos="100000">
                  <a:srgbClr val="FFFFFF">
                    <a:alpha val="100000"/>
                  </a:srgbClr>
                </a:gs>
              </a:gsLst>
              <a:path path="circle">
                <a:fillToRect l="0" r="100000" t="0" b="100000"/>
              </a:path>
              <a:tileRect r="0" l="-100000" b="0" t="-100000"/>
            </a:gradFill>
          </p:spPr>
        </p:sp>
        <p:sp>
          <p:nvSpPr>
            <p:cNvPr name="TextBox 17" id="17"/>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8934440" y="-514350"/>
            <a:ext cx="1166346" cy="3319817"/>
            <a:chOff x="0" y="0"/>
            <a:chExt cx="554046" cy="1577001"/>
          </a:xfrm>
        </p:grpSpPr>
        <p:sp>
          <p:nvSpPr>
            <p:cNvPr name="Freeform 19" id="19"/>
            <p:cNvSpPr/>
            <p:nvPr/>
          </p:nvSpPr>
          <p:spPr>
            <a:xfrm flipH="false" flipV="false" rot="0">
              <a:off x="0" y="0"/>
              <a:ext cx="554046" cy="1577001"/>
            </a:xfrm>
            <a:custGeom>
              <a:avLst/>
              <a:gdLst/>
              <a:ahLst/>
              <a:cxnLst/>
              <a:rect r="r" b="b" t="t" l="l"/>
              <a:pathLst>
                <a:path h="1577001" w="554046">
                  <a:moveTo>
                    <a:pt x="184782" y="1557932"/>
                  </a:moveTo>
                  <a:cubicBezTo>
                    <a:pt x="213186" y="1569446"/>
                    <a:pt x="245478" y="1577001"/>
                    <a:pt x="277172" y="1577001"/>
                  </a:cubicBezTo>
                  <a:cubicBezTo>
                    <a:pt x="308867" y="1577001"/>
                    <a:pt x="339365" y="1570524"/>
                    <a:pt x="367470" y="1559010"/>
                  </a:cubicBezTo>
                  <a:cubicBezTo>
                    <a:pt x="368068" y="1558651"/>
                    <a:pt x="368666" y="1558651"/>
                    <a:pt x="369264" y="1558292"/>
                  </a:cubicBezTo>
                  <a:cubicBezTo>
                    <a:pt x="474811" y="1512236"/>
                    <a:pt x="552551" y="1390622"/>
                    <a:pt x="554046" y="1231524"/>
                  </a:cubicBezTo>
                  <a:lnTo>
                    <a:pt x="554046" y="0"/>
                  </a:lnTo>
                  <a:lnTo>
                    <a:pt x="0" y="0"/>
                  </a:lnTo>
                  <a:lnTo>
                    <a:pt x="0" y="1230610"/>
                  </a:lnTo>
                  <a:cubicBezTo>
                    <a:pt x="1495" y="1391341"/>
                    <a:pt x="78039" y="1512956"/>
                    <a:pt x="184782" y="1557932"/>
                  </a:cubicBezTo>
                  <a:close/>
                </a:path>
              </a:pathLst>
            </a:custGeom>
            <a:gradFill rotWithShape="true">
              <a:gsLst>
                <a:gs pos="0">
                  <a:srgbClr val="FFFFFF">
                    <a:alpha val="100000"/>
                  </a:srgbClr>
                </a:gs>
                <a:gs pos="100000">
                  <a:srgbClr val="99BEFF">
                    <a:alpha val="100000"/>
                  </a:srgbClr>
                </a:gs>
              </a:gsLst>
              <a:path path="circle">
                <a:fillToRect l="0" r="100000" t="0" b="100000"/>
              </a:path>
              <a:tileRect r="0" l="-100000" b="0" t="-100000"/>
            </a:gradFill>
          </p:spPr>
        </p:sp>
        <p:sp>
          <p:nvSpPr>
            <p:cNvPr name="TextBox 20" id="20"/>
            <p:cNvSpPr txBox="true"/>
            <p:nvPr/>
          </p:nvSpPr>
          <p:spPr>
            <a:xfrm>
              <a:off x="0" y="-47625"/>
              <a:ext cx="554046" cy="1497626"/>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10800000">
            <a:off x="11846013" y="6932284"/>
            <a:ext cx="392775" cy="3740767"/>
            <a:chOff x="0" y="0"/>
            <a:chExt cx="554046" cy="5276697"/>
          </a:xfrm>
        </p:grpSpPr>
        <p:sp>
          <p:nvSpPr>
            <p:cNvPr name="Freeform 22" id="22"/>
            <p:cNvSpPr/>
            <p:nvPr/>
          </p:nvSpPr>
          <p:spPr>
            <a:xfrm flipH="false" flipV="false" rot="0">
              <a:off x="0" y="0"/>
              <a:ext cx="554046" cy="5276697"/>
            </a:xfrm>
            <a:custGeom>
              <a:avLst/>
              <a:gdLst/>
              <a:ahLst/>
              <a:cxnLst/>
              <a:rect r="r" b="b" t="t" l="l"/>
              <a:pathLst>
                <a:path h="5276697" w="554046">
                  <a:moveTo>
                    <a:pt x="184782" y="5257628"/>
                  </a:moveTo>
                  <a:cubicBezTo>
                    <a:pt x="213186" y="5269142"/>
                    <a:pt x="245478" y="5276697"/>
                    <a:pt x="277172" y="5276697"/>
                  </a:cubicBezTo>
                  <a:cubicBezTo>
                    <a:pt x="308867" y="5276697"/>
                    <a:pt x="339365" y="5270220"/>
                    <a:pt x="367470" y="5258706"/>
                  </a:cubicBezTo>
                  <a:cubicBezTo>
                    <a:pt x="368068" y="5258346"/>
                    <a:pt x="368666" y="5258346"/>
                    <a:pt x="369264" y="5257987"/>
                  </a:cubicBezTo>
                  <a:cubicBezTo>
                    <a:pt x="474811" y="5211931"/>
                    <a:pt x="552551" y="5090318"/>
                    <a:pt x="554046" y="4849039"/>
                  </a:cubicBezTo>
                  <a:lnTo>
                    <a:pt x="554046" y="0"/>
                  </a:lnTo>
                  <a:lnTo>
                    <a:pt x="0" y="0"/>
                  </a:lnTo>
                  <a:lnTo>
                    <a:pt x="0" y="4845440"/>
                  </a:lnTo>
                  <a:cubicBezTo>
                    <a:pt x="1495" y="5091037"/>
                    <a:pt x="78039" y="5212652"/>
                    <a:pt x="184782" y="5257628"/>
                  </a:cubicBezTo>
                  <a:close/>
                </a:path>
              </a:pathLst>
            </a:custGeom>
            <a:gradFill rotWithShape="true">
              <a:gsLst>
                <a:gs pos="0">
                  <a:srgbClr val="FFFFFF">
                    <a:alpha val="100000"/>
                  </a:srgbClr>
                </a:gs>
                <a:gs pos="100000">
                  <a:srgbClr val="99BEFF">
                    <a:alpha val="100000"/>
                  </a:srgbClr>
                </a:gs>
              </a:gsLst>
              <a:path path="circle">
                <a:fillToRect l="0" r="100000" t="0" b="100000"/>
              </a:path>
              <a:tileRect r="0" l="-100000" b="0" t="-100000"/>
            </a:gradFill>
          </p:spPr>
        </p:sp>
        <p:sp>
          <p:nvSpPr>
            <p:cNvPr name="TextBox 23" id="23"/>
            <p:cNvSpPr txBox="true"/>
            <p:nvPr/>
          </p:nvSpPr>
          <p:spPr>
            <a:xfrm>
              <a:off x="0" y="-47625"/>
              <a:ext cx="554046" cy="5197322"/>
            </a:xfrm>
            <a:prstGeom prst="rect">
              <a:avLst/>
            </a:prstGeom>
          </p:spPr>
          <p:txBody>
            <a:bodyPr anchor="ctr" rtlCol="false" tIns="50800" lIns="50800" bIns="50800" rIns="50800"/>
            <a:lstStyle/>
            <a:p>
              <a:pPr algn="ctr">
                <a:lnSpc>
                  <a:spcPts val="2659"/>
                </a:lnSpc>
              </a:pPr>
            </a:p>
          </p:txBody>
        </p:sp>
      </p:grpSp>
      <p:sp>
        <p:nvSpPr>
          <p:cNvPr name="Freeform 24" id="24"/>
          <p:cNvSpPr/>
          <p:nvPr/>
        </p:nvSpPr>
        <p:spPr>
          <a:xfrm flipH="false" flipV="false" rot="0">
            <a:off x="9096365" y="4284955"/>
            <a:ext cx="4297588" cy="4297588"/>
          </a:xfrm>
          <a:custGeom>
            <a:avLst/>
            <a:gdLst/>
            <a:ahLst/>
            <a:cxnLst/>
            <a:rect r="r" b="b" t="t" l="l"/>
            <a:pathLst>
              <a:path h="4297588" w="4297588">
                <a:moveTo>
                  <a:pt x="0" y="0"/>
                </a:moveTo>
                <a:lnTo>
                  <a:pt x="4297589" y="0"/>
                </a:lnTo>
                <a:lnTo>
                  <a:pt x="4297589" y="4297589"/>
                </a:lnTo>
                <a:lnTo>
                  <a:pt x="0" y="4297589"/>
                </a:lnTo>
                <a:lnTo>
                  <a:pt x="0" y="0"/>
                </a:lnTo>
                <a:close/>
              </a:path>
            </a:pathLst>
          </a:custGeom>
          <a:blipFill>
            <a:blip r:embed="rId3"/>
            <a:stretch>
              <a:fillRect l="0" t="0" r="0" b="0"/>
            </a:stretch>
          </a:blipFill>
        </p:spPr>
      </p:sp>
      <p:sp>
        <p:nvSpPr>
          <p:cNvPr name="TextBox 25" id="25"/>
          <p:cNvSpPr txBox="true"/>
          <p:nvPr/>
        </p:nvSpPr>
        <p:spPr>
          <a:xfrm rot="0">
            <a:off x="1738660" y="3176199"/>
            <a:ext cx="7643508" cy="3257550"/>
          </a:xfrm>
          <a:prstGeom prst="rect">
            <a:avLst/>
          </a:prstGeom>
        </p:spPr>
        <p:txBody>
          <a:bodyPr anchor="t" rtlCol="false" tIns="0" lIns="0" bIns="0" rIns="0">
            <a:spAutoFit/>
          </a:bodyPr>
          <a:lstStyle/>
          <a:p>
            <a:pPr algn="l">
              <a:lnSpc>
                <a:spcPts val="12600"/>
              </a:lnSpc>
            </a:pPr>
            <a:r>
              <a:rPr lang="en-US" b="true" sz="12000">
                <a:solidFill>
                  <a:srgbClr val="0037BC"/>
                </a:solidFill>
                <a:latin typeface="Canva Sans Bold"/>
                <a:ea typeface="Canva Sans Bold"/>
                <a:cs typeface="Canva Sans Bold"/>
                <a:sym typeface="Canva Sans Bold"/>
              </a:rPr>
              <a:t>TERIMA KASIH</a:t>
            </a:r>
          </a:p>
        </p:txBody>
      </p:sp>
      <p:sp>
        <p:nvSpPr>
          <p:cNvPr name="TextBox 26" id="26"/>
          <p:cNvSpPr txBox="true"/>
          <p:nvPr/>
        </p:nvSpPr>
        <p:spPr>
          <a:xfrm rot="0">
            <a:off x="8686318" y="8487294"/>
            <a:ext cx="6319391" cy="887095"/>
          </a:xfrm>
          <a:prstGeom prst="rect">
            <a:avLst/>
          </a:prstGeom>
        </p:spPr>
        <p:txBody>
          <a:bodyPr anchor="t" rtlCol="false" tIns="0" lIns="0" bIns="0" rIns="0">
            <a:spAutoFit/>
          </a:bodyPr>
          <a:lstStyle/>
          <a:p>
            <a:pPr algn="ctr">
              <a:lnSpc>
                <a:spcPts val="7279"/>
              </a:lnSpc>
            </a:pPr>
            <a:r>
              <a:rPr lang="en-US" sz="5199" b="true">
                <a:solidFill>
                  <a:srgbClr val="0037BC"/>
                </a:solidFill>
                <a:latin typeface="Canva Sans Bold"/>
                <a:ea typeface="Canva Sans Bold"/>
                <a:cs typeface="Canva Sans Bold"/>
                <a:sym typeface="Canva Sans Bold"/>
              </a:rPr>
              <a:t>Dataset &amp; Referensi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DAG493-7Rik</dc:identifier>
  <dcterms:modified xsi:type="dcterms:W3CDTF">2011-08-01T06:04:30Z</dcterms:modified>
  <cp:revision>1</cp:revision>
  <dc:title>PPT_2_RA</dc:title>
</cp:coreProperties>
</file>